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We're here today for the Q2 project status update on our Advanced AI Dialogue Summarization Framework. This project is all about building a unified, knowledge-grounded generative AI framework. It's designed for adaptive dialogue summarization and intelligent information retrieval. Let's dive into what we've accomplished this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kick things off, our vision is to bridge the gap between fluent text generation and factual accuracy in AI. We're moving beyond models that just guess; instead, we dynamically query external knowledge bases to verify facts. Our key innovation combines Retrieval-Augmented Generation with context-aware dialogue modeling to eliminate the 'hallucination' problem. I'm pleased to report that in Q2, we successfully completed our environment setup, data indexing, and initial vector store creation. This sets a strong foundation for our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briefly revisit why this project is so critical. Dialogues are inherently messy, full of slang, interruptions, and multiple speakers. Traditional large language models often suffer from semantic drift in long conversations and can generate 'plausible lies.' Our core goal is to ensure every dialogue summary is concise and 100% factually grounded. To achieve this, we're developing a RAG-based pipeline for real-time semantic searches, implementing a filtering layer for noise reduction, and enabling adaptive retrieval to know precisely when to fetch external data. This directly addresses the challenges we just discussed.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Q2, we made significant technical strides in implementing our methodology. We established robust input processing pipelines, handling tokenization for multi-turn dialogues and automating speaker identification. Our retrieval engine is now fully functional; we can formulate queries from dialogue snippets and efficiently search our ChromaDB and FAISS vector databases using Dense Passage Retrieval, achieving sub-second latency. We also successfully developed the augmentation strategy to inject retrieved 'Knowledge Triples' directly into our LLM prompts, optimizing them for factual grounding. This progress directly supports our core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outlines our system architecture, which is now fully mapped out and partially implemented. The process begins with multi-turn user dialogue, which passes through a Transformer-based Bi-Encoder. This is then checked against our integrated external Knowledge Base. The critical component we focused on this quarter is the Fusion Layer, which intelligently combines the dialogue context with the retrieved context. This combined information then goes to the Decoder to generate the final grounded summary, and finally, a Verifier performs a secondary check for factual consistency. This architecture ensures factual accuracy at every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from the system overview, let's dive into the technical backbone. Our algorithmic foundation ensures both fluency and factual accuracy by penalizing inconsistencies. We're not just generating text; we're generating truthful text. Our retrieval logic is powered by cosine similarity, efficiently matching dialogue context with external knowledge. This quarter, we fully provisioned our infrastructure with NVIDIA A100 GPUs and a robust software stack including PyTorch, HuggingFace, LangChain, and Pinecone. This setup provides the computational power and tools needed to drive our advanced RAG pipeline. Next, we'll discuss the data and evaluation methods that validate our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preparation was a critical focus this quarter, and we've made significant progress. We've successfully integrated DialogSum for general conversations and MediaSum for fact-dense dialogues, alongside our custom knowledge base built from Wikipedia and specialized documents. Our evaluation framework goes beyond standard metrics. We're using ROUGE for fluency, but more importantly, Entity Precision and FactCC to rigorously measure factual consistency. This will be further validated by expert human evaluation. This comprehensive approach ensures our summaries are not only well-written but also factually sound. Now, let's look at how this fits into our overall project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timeline shows we're right on schedule, having completed the foundational phases in Q1 and Q2. This includes all environment setup, data indexing, and vector store creation. As we enter Q3, our primary focus shifts to model training. We'll be fine-tuning our LLMs using Low-Rank Adaptation, or LoRA, integrated directly with our RAG pipeline. This phase is crucial for optimizing performance and ensuring adaptive retrieval. Q4 will then be dedicated to rigorous evaluation and testing. This structured approach keeps us on track for successful delivery. Let's summarize our progress and outline the immediate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our framework is on track to deliver a scalable solution for accurate, real-time dialogue intelligence. We're significantly mitigating the risk of AI hallucinations in multi-turn conversations. Our immediate next steps involve initiating domain-specific fine-tuning using LoRA and beginning preliminary performance testing on the DialogSum dataset. We'll also refine our filtering layer for even better noise reduction. Looking ahead, we're already exploring exciting future scopes like multimodal retrieval for video calls and optimizing for edge devices. This ensures our solution remains cutting-edge and adaptable. Now, I'd like to open the floor for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all for your time and attention today. I'd now like to open the floor to any questions you might have regarding our Q2 progress, the methodology, or our upcoming implementation phases. We appreciate your continued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642938" y="1383767"/>
            <a:ext cx="7858125" cy="1097235"/>
          </a:xfrm>
          <a:prstGeom prst="rect">
            <a:avLst/>
          </a:prstGeom>
          <a:noFill/>
          <a:ln/>
        </p:spPr>
        <p:txBody>
          <a:bodyPr wrap="square" lIns="0" tIns="0" rIns="0" bIns="0" rtlCol="0" anchor="t">
            <a:spAutoFit/>
          </a:bodyPr>
          <a:lstStyle/>
          <a:p>
            <a:pPr algn="l" indent="0" marL="0">
              <a:lnSpc>
                <a:spcPct val="96000"/>
              </a:lnSpc>
              <a:buNone/>
            </a:pPr>
            <a:r>
              <a:rPr lang="en-US" sz="3300" b="1" dirty="0">
                <a:solidFill>
                  <a:srgbClr val="0F2537"/>
                </a:solidFill>
                <a:latin typeface="Playfair Display Bold" pitchFamily="34" charset="0"/>
                <a:ea typeface="Playfair Display Bold" pitchFamily="34" charset="-122"/>
                <a:cs typeface="Playfair Display Bold" pitchFamily="34" charset="-120"/>
              </a:rPr>
              <a:t>Q2 Project Status Update: Advanced AI Dialogue Summarization Framework</a:t>
            </a:r>
            <a:endParaRPr lang="en-US" sz="3300" dirty="0"/>
          </a:p>
        </p:txBody>
      </p:sp>
      <p:sp>
        <p:nvSpPr>
          <p:cNvPr id="5" name="Text 1"/>
          <p:cNvSpPr/>
          <p:nvPr/>
        </p:nvSpPr>
        <p:spPr>
          <a:xfrm>
            <a:off x="642938" y="2623877"/>
            <a:ext cx="7858125" cy="342900"/>
          </a:xfrm>
          <a:prstGeom prst="rect">
            <a:avLst/>
          </a:prstGeom>
          <a:noFill/>
          <a:ln/>
        </p:spPr>
        <p:txBody>
          <a:bodyPr wrap="none" lIns="0" tIns="0" rIns="0" bIns="0" rtlCol="0" anchor="t">
            <a:spAutoFit/>
          </a:bodyPr>
          <a:lstStyle/>
          <a:p>
            <a:pPr algn="l" indent="0" marL="0">
              <a:lnSpc>
                <a:spcPct val="120000"/>
              </a:lnSpc>
              <a:buNone/>
            </a:pPr>
            <a:r>
              <a:rPr lang="en-US" sz="1700" dirty="0">
                <a:solidFill>
                  <a:srgbClr val="2C3E50"/>
                </a:solidFill>
                <a:latin typeface="Work Sans" pitchFamily="34" charset="0"/>
                <a:ea typeface="Work Sans" pitchFamily="34" charset="-122"/>
                <a:cs typeface="Work Sans" pitchFamily="34" charset="-120"/>
              </a:rPr>
              <a:t>A Unified Knowledge-Grounded Generative AI Framework</a:t>
            </a:r>
            <a:endParaRPr lang="en-US" sz="1700" dirty="0"/>
          </a:p>
        </p:txBody>
      </p:sp>
      <p:sp>
        <p:nvSpPr>
          <p:cNvPr id="6" name="Text 2"/>
          <p:cNvSpPr/>
          <p:nvPr/>
        </p:nvSpPr>
        <p:spPr>
          <a:xfrm>
            <a:off x="642938" y="3331108"/>
            <a:ext cx="7858125" cy="214313"/>
          </a:xfrm>
          <a:prstGeom prst="rect">
            <a:avLst/>
          </a:prstGeom>
          <a:noFill/>
          <a:ln/>
        </p:spPr>
        <p:txBody>
          <a:bodyPr wrap="none" lIns="0" tIns="0" rIns="0" bIns="0" rtlCol="0" anchor="t">
            <a:spAutoFit/>
          </a:bodyPr>
          <a:lstStyle/>
          <a:p>
            <a:pPr algn="l" indent="0" marL="0">
              <a:lnSpc>
                <a:spcPct val="120000"/>
              </a:lnSpc>
              <a:buNone/>
            </a:pPr>
            <a:r>
              <a:rPr lang="en-US" sz="1050" dirty="0">
                <a:solidFill>
                  <a:srgbClr val="2C3E50"/>
                </a:solidFill>
                <a:latin typeface="Work Sans" pitchFamily="34" charset="0"/>
                <a:ea typeface="Work Sans" pitchFamily="34" charset="-122"/>
                <a:cs typeface="Work Sans" pitchFamily="34" charset="-120"/>
              </a:rPr>
              <a:t>Presenter: Souparna Paul</a:t>
            </a:r>
            <a:endParaRPr lang="en-US" sz="1050" dirty="0"/>
          </a:p>
        </p:txBody>
      </p:sp>
      <p:sp>
        <p:nvSpPr>
          <p:cNvPr id="7" name="Text 3"/>
          <p:cNvSpPr/>
          <p:nvPr/>
        </p:nvSpPr>
        <p:spPr>
          <a:xfrm>
            <a:off x="642938" y="3545421"/>
            <a:ext cx="7858125" cy="214313"/>
          </a:xfrm>
          <a:prstGeom prst="rect">
            <a:avLst/>
          </a:prstGeom>
          <a:noFill/>
          <a:ln/>
        </p:spPr>
        <p:txBody>
          <a:bodyPr wrap="none" lIns="0" tIns="0" rIns="0" bIns="0" rtlCol="0" anchor="t">
            <a:spAutoFit/>
          </a:bodyPr>
          <a:lstStyle/>
          <a:p>
            <a:pPr algn="l" indent="0" marL="0">
              <a:lnSpc>
                <a:spcPct val="120000"/>
              </a:lnSpc>
              <a:buNone/>
            </a:pPr>
            <a:r>
              <a:rPr lang="en-US" sz="1050" dirty="0">
                <a:solidFill>
                  <a:srgbClr val="2C3E50"/>
                </a:solidFill>
                <a:latin typeface="Work Sans" pitchFamily="34" charset="0"/>
                <a:ea typeface="Work Sans" pitchFamily="34" charset="-122"/>
                <a:cs typeface="Work Sans" pitchFamily="34" charset="-120"/>
              </a:rPr>
              <a:t>Date: Q2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642938" y="1329630"/>
            <a:ext cx="7858125" cy="262533"/>
          </a:xfrm>
          <a:prstGeom prst="rect">
            <a:avLst/>
          </a:prstGeom>
          <a:noFill/>
          <a:ln/>
        </p:spPr>
        <p:txBody>
          <a:bodyPr wrap="square" lIns="0" tIns="0" rIns="0" bIns="0" rtlCol="0" anchor="t">
            <a:spAutoFit/>
          </a:bodyPr>
          <a:lstStyle/>
          <a:p>
            <a:pPr algn="l" indent="0" marL="0">
              <a:buNone/>
            </a:pPr>
            <a:r>
              <a:rPr lang="en-US" sz="1600" b="1" dirty="0">
                <a:solidFill>
                  <a:srgbClr val="0F2537"/>
                </a:solidFill>
                <a:latin typeface="Playfair Display Bold" pitchFamily="34" charset="0"/>
                <a:ea typeface="Playfair Display Bold" pitchFamily="34" charset="-122"/>
                <a:cs typeface="Playfair Display Bold" pitchFamily="34" charset="-120"/>
              </a:rPr>
              <a:t>Executive Summary</a:t>
            </a:r>
            <a:endParaRPr lang="en-US" sz="1600" dirty="0"/>
          </a:p>
        </p:txBody>
      </p:sp>
      <p:sp>
        <p:nvSpPr>
          <p:cNvPr id="5" name="Text 1"/>
          <p:cNvSpPr/>
          <p:nvPr/>
        </p:nvSpPr>
        <p:spPr>
          <a:xfrm>
            <a:off x="857250" y="1806476"/>
            <a:ext cx="5386834" cy="214313"/>
          </a:xfrm>
          <a:prstGeom prst="rect">
            <a:avLst/>
          </a:prstGeom>
          <a:noFill/>
          <a:ln/>
        </p:spPr>
        <p:txBody>
          <a:bodyPr wrap="none" lIns="0" tIns="0" rIns="0" bIns="0" rtlCol="0" anchor="t">
            <a:spAutoFit/>
          </a:bodyPr>
          <a:lstStyle/>
          <a:p>
            <a:pPr algn="l" indent="0" marL="0">
              <a:lnSpc>
                <a:spcPct val="120000"/>
              </a:lnSpc>
              <a:buNone/>
            </a:pPr>
            <a:r>
              <a:rPr lang="en-US" sz="1050" dirty="0">
                <a:solidFill>
                  <a:srgbClr val="2C3E50"/>
                </a:solidFill>
                <a:latin typeface="Work Sans" pitchFamily="34" charset="0"/>
                <a:ea typeface="Work Sans" pitchFamily="34" charset="-122"/>
                <a:cs typeface="Work Sans" pitchFamily="34" charset="-120"/>
              </a:rPr>
              <a:t>The Vision: Bridging the gap between "fluent" generation and "factual" accuracy in AI.</a:t>
            </a:r>
            <a:endParaRPr lang="en-US" sz="1050" dirty="0"/>
          </a:p>
        </p:txBody>
      </p:sp>
      <p:sp>
        <p:nvSpPr>
          <p:cNvPr id="6" name="Text 2"/>
          <p:cNvSpPr/>
          <p:nvPr/>
        </p:nvSpPr>
        <p:spPr>
          <a:xfrm>
            <a:off x="857250" y="2127945"/>
            <a:ext cx="7643813" cy="428625"/>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2C3E50"/>
                </a:solidFill>
                <a:latin typeface="Work Sans" pitchFamily="34" charset="0"/>
                <a:ea typeface="Work Sans" pitchFamily="34" charset="-122"/>
                <a:cs typeface="Work Sans" pitchFamily="34" charset="-120"/>
              </a:rPr>
              <a:t>The Core Approach: Dynamically querying external knowledge bases to verify facts, rather than relying solely on internal model weights.</a:t>
            </a:r>
            <a:endParaRPr lang="en-US" sz="1050" dirty="0"/>
          </a:p>
        </p:txBody>
      </p:sp>
      <p:sp>
        <p:nvSpPr>
          <p:cNvPr id="7" name="Text 3"/>
          <p:cNvSpPr/>
          <p:nvPr/>
        </p:nvSpPr>
        <p:spPr>
          <a:xfrm>
            <a:off x="857250" y="2663726"/>
            <a:ext cx="7643813" cy="428625"/>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2C3E50"/>
                </a:solidFill>
                <a:latin typeface="Work Sans" pitchFamily="34" charset="0"/>
                <a:ea typeface="Work Sans" pitchFamily="34" charset="-122"/>
                <a:cs typeface="Work Sans" pitchFamily="34" charset="-120"/>
              </a:rPr>
              <a:t>Key Innovation: Integrating Retrieval-Augmented Generation (RAG) with Context-Aware Dialogue Modeling to solve the "Hallucination" problem.</a:t>
            </a:r>
            <a:endParaRPr lang="en-US" sz="1050" dirty="0"/>
          </a:p>
        </p:txBody>
      </p:sp>
      <p:sp>
        <p:nvSpPr>
          <p:cNvPr id="8" name="Text 4"/>
          <p:cNvSpPr/>
          <p:nvPr/>
        </p:nvSpPr>
        <p:spPr>
          <a:xfrm>
            <a:off x="857250" y="3492401"/>
            <a:ext cx="6615447" cy="214313"/>
          </a:xfrm>
          <a:prstGeom prst="rect">
            <a:avLst/>
          </a:prstGeom>
          <a:noFill/>
          <a:ln/>
        </p:spPr>
        <p:txBody>
          <a:bodyPr wrap="none" lIns="0" tIns="0" rIns="0" bIns="0" rtlCol="0" anchor="t">
            <a:spAutoFit/>
          </a:bodyPr>
          <a:lstStyle/>
          <a:p>
            <a:pPr algn="l" indent="0" marL="0">
              <a:lnSpc>
                <a:spcPct val="120000"/>
              </a:lnSpc>
              <a:buNone/>
            </a:pPr>
            <a:r>
              <a:rPr lang="en-US" sz="1050" dirty="0">
                <a:solidFill>
                  <a:srgbClr val="2C3E50"/>
                </a:solidFill>
                <a:latin typeface="Work Sans" pitchFamily="34" charset="0"/>
                <a:ea typeface="Work Sans" pitchFamily="34" charset="-122"/>
                <a:cs typeface="Work Sans" pitchFamily="34" charset="-120"/>
              </a:rPr>
              <a:t>Q2 Milestone: Successfully completed environment setup, data indexing, and initial vector store creation.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642938" y="895648"/>
            <a:ext cx="7858125" cy="262533"/>
          </a:xfrm>
          <a:prstGeom prst="rect">
            <a:avLst/>
          </a:prstGeom>
          <a:noFill/>
          <a:ln/>
        </p:spPr>
        <p:txBody>
          <a:bodyPr wrap="square" lIns="0" tIns="0" rIns="0" bIns="0" rtlCol="0" anchor="t">
            <a:spAutoFit/>
          </a:bodyPr>
          <a:lstStyle/>
          <a:p>
            <a:pPr algn="l" indent="0" marL="0">
              <a:buNone/>
            </a:pPr>
            <a:r>
              <a:rPr lang="en-US" sz="1600" b="1" dirty="0">
                <a:solidFill>
                  <a:srgbClr val="0F2537"/>
                </a:solidFill>
                <a:latin typeface="Playfair Display Bold" pitchFamily="34" charset="0"/>
                <a:ea typeface="Playfair Display Bold" pitchFamily="34" charset="-122"/>
                <a:cs typeface="Playfair Display Bold" pitchFamily="34" charset="-120"/>
              </a:rPr>
              <a:t>Project Context &amp; Objectives</a:t>
            </a:r>
            <a:endParaRPr lang="en-US" sz="1600" dirty="0"/>
          </a:p>
        </p:txBody>
      </p:sp>
      <p:sp>
        <p:nvSpPr>
          <p:cNvPr id="5" name="Text 1"/>
          <p:cNvSpPr/>
          <p:nvPr/>
        </p:nvSpPr>
        <p:spPr>
          <a:xfrm>
            <a:off x="642938" y="1515368"/>
            <a:ext cx="7858125" cy="196453"/>
          </a:xfrm>
          <a:prstGeom prst="rect">
            <a:avLst/>
          </a:prstGeom>
          <a:noFill/>
          <a:ln/>
        </p:spPr>
        <p:txBody>
          <a:bodyPr wrap="square" lIns="0" tIns="0" rIns="0" bIns="0" rtlCol="0" anchor="t">
            <a:spAutoFit/>
          </a:bodyPr>
          <a:lstStyle/>
          <a:p>
            <a:pPr algn="l" indent="0" marL="0">
              <a:buNone/>
            </a:pPr>
            <a:r>
              <a:rPr lang="en-US" sz="1200" dirty="0">
                <a:solidFill>
                  <a:srgbClr val="0F2537"/>
                </a:solidFill>
                <a:latin typeface="Work Sans SemiBold" pitchFamily="34" charset="0"/>
                <a:ea typeface="Work Sans SemiBold" pitchFamily="34" charset="-122"/>
                <a:cs typeface="Work Sans SemiBold" pitchFamily="34" charset="-120"/>
              </a:rPr>
              <a:t>The Challenge:</a:t>
            </a:r>
            <a:endParaRPr lang="en-US" sz="1200" dirty="0"/>
          </a:p>
        </p:txBody>
      </p:sp>
      <p:sp>
        <p:nvSpPr>
          <p:cNvPr id="6" name="Text 2"/>
          <p:cNvSpPr/>
          <p:nvPr/>
        </p:nvSpPr>
        <p:spPr>
          <a:xfrm>
            <a:off x="857250" y="1783259"/>
            <a:ext cx="7643813" cy="428625"/>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2C3E50"/>
                </a:solidFill>
                <a:latin typeface="Work Sans" pitchFamily="34" charset="0"/>
                <a:ea typeface="Work Sans" pitchFamily="34" charset="-122"/>
                <a:cs typeface="Work Sans" pitchFamily="34" charset="-120"/>
              </a:rPr>
              <a:t>Dialogues are messy (slang, interruptions, multiple speakers). LLMs often suffer from semantic drift in long conversations and create "plausible lies."</a:t>
            </a:r>
            <a:endParaRPr lang="en-US" sz="1050" dirty="0"/>
          </a:p>
        </p:txBody>
      </p:sp>
      <p:sp>
        <p:nvSpPr>
          <p:cNvPr id="7" name="Text 3"/>
          <p:cNvSpPr/>
          <p:nvPr/>
        </p:nvSpPr>
        <p:spPr>
          <a:xfrm>
            <a:off x="642938" y="2426196"/>
            <a:ext cx="7858125" cy="196453"/>
          </a:xfrm>
          <a:prstGeom prst="rect">
            <a:avLst/>
          </a:prstGeom>
          <a:noFill/>
          <a:ln/>
        </p:spPr>
        <p:txBody>
          <a:bodyPr wrap="square" lIns="0" tIns="0" rIns="0" bIns="0" rtlCol="0" anchor="t">
            <a:spAutoFit/>
          </a:bodyPr>
          <a:lstStyle/>
          <a:p>
            <a:pPr algn="l" indent="0" marL="0">
              <a:buNone/>
            </a:pPr>
            <a:r>
              <a:rPr lang="en-US" sz="1200" dirty="0">
                <a:solidFill>
                  <a:srgbClr val="0F2537"/>
                </a:solidFill>
                <a:latin typeface="Work Sans SemiBold" pitchFamily="34" charset="0"/>
                <a:ea typeface="Work Sans SemiBold" pitchFamily="34" charset="-122"/>
                <a:cs typeface="Work Sans SemiBold" pitchFamily="34" charset="-120"/>
              </a:rPr>
              <a:t>The Goal:</a:t>
            </a:r>
            <a:endParaRPr lang="en-US" sz="1200" dirty="0"/>
          </a:p>
        </p:txBody>
      </p:sp>
      <p:sp>
        <p:nvSpPr>
          <p:cNvPr id="8" name="Text 4"/>
          <p:cNvSpPr/>
          <p:nvPr/>
        </p:nvSpPr>
        <p:spPr>
          <a:xfrm>
            <a:off x="857250" y="2694087"/>
            <a:ext cx="4471485" cy="214313"/>
          </a:xfrm>
          <a:prstGeom prst="rect">
            <a:avLst/>
          </a:prstGeom>
          <a:noFill/>
          <a:ln/>
        </p:spPr>
        <p:txBody>
          <a:bodyPr wrap="none" lIns="0" tIns="0" rIns="0" bIns="0" rtlCol="0" anchor="t">
            <a:spAutoFit/>
          </a:bodyPr>
          <a:lstStyle/>
          <a:p>
            <a:pPr algn="l" indent="0" marL="0">
              <a:lnSpc>
                <a:spcPct val="120000"/>
              </a:lnSpc>
              <a:buNone/>
            </a:pPr>
            <a:r>
              <a:rPr lang="en-US" sz="1050" dirty="0">
                <a:solidFill>
                  <a:srgbClr val="2C3E50"/>
                </a:solidFill>
                <a:latin typeface="Work Sans" pitchFamily="34" charset="0"/>
                <a:ea typeface="Work Sans" pitchFamily="34" charset="-122"/>
                <a:cs typeface="Work Sans" pitchFamily="34" charset="-120"/>
              </a:rPr>
              <a:t>Ensure dialogue summaries are concise and 100% factually grounded.</a:t>
            </a:r>
            <a:endParaRPr lang="en-US" sz="1050" dirty="0"/>
          </a:p>
        </p:txBody>
      </p:sp>
      <p:sp>
        <p:nvSpPr>
          <p:cNvPr id="9" name="Text 5"/>
          <p:cNvSpPr/>
          <p:nvPr/>
        </p:nvSpPr>
        <p:spPr>
          <a:xfrm>
            <a:off x="642938" y="3122712"/>
            <a:ext cx="7858125" cy="196453"/>
          </a:xfrm>
          <a:prstGeom prst="rect">
            <a:avLst/>
          </a:prstGeom>
          <a:noFill/>
          <a:ln/>
        </p:spPr>
        <p:txBody>
          <a:bodyPr wrap="square" lIns="0" tIns="0" rIns="0" bIns="0" rtlCol="0" anchor="t">
            <a:spAutoFit/>
          </a:bodyPr>
          <a:lstStyle/>
          <a:p>
            <a:pPr algn="l" indent="0" marL="0">
              <a:buNone/>
            </a:pPr>
            <a:r>
              <a:rPr lang="en-US" sz="1200" dirty="0">
                <a:solidFill>
                  <a:srgbClr val="0F2537"/>
                </a:solidFill>
                <a:latin typeface="Work Sans SemiBold" pitchFamily="34" charset="0"/>
                <a:ea typeface="Work Sans SemiBold" pitchFamily="34" charset="-122"/>
                <a:cs typeface="Work Sans SemiBold" pitchFamily="34" charset="-120"/>
              </a:rPr>
              <a:t>Core Objectives:</a:t>
            </a:r>
            <a:endParaRPr lang="en-US" sz="1200" dirty="0"/>
          </a:p>
        </p:txBody>
      </p:sp>
      <p:sp>
        <p:nvSpPr>
          <p:cNvPr id="10" name="Text 6"/>
          <p:cNvSpPr/>
          <p:nvPr/>
        </p:nvSpPr>
        <p:spPr>
          <a:xfrm>
            <a:off x="857250" y="3390602"/>
            <a:ext cx="4034126" cy="214313"/>
          </a:xfrm>
          <a:prstGeom prst="rect">
            <a:avLst/>
          </a:prstGeom>
          <a:noFill/>
          <a:ln/>
        </p:spPr>
        <p:txBody>
          <a:bodyPr wrap="none" lIns="0" tIns="0" rIns="0" bIns="0" rtlCol="0" anchor="t">
            <a:spAutoFit/>
          </a:bodyPr>
          <a:lstStyle/>
          <a:p>
            <a:pPr algn="l" indent="0" marL="0">
              <a:lnSpc>
                <a:spcPct val="120000"/>
              </a:lnSpc>
              <a:buNone/>
            </a:pPr>
            <a:r>
              <a:rPr lang="en-US" sz="1050" dirty="0">
                <a:solidFill>
                  <a:srgbClr val="2C3E50"/>
                </a:solidFill>
                <a:latin typeface="Work Sans" pitchFamily="34" charset="0"/>
                <a:ea typeface="Work Sans" pitchFamily="34" charset="-122"/>
                <a:cs typeface="Work Sans" pitchFamily="34" charset="-120"/>
              </a:rPr>
              <a:t>Develop a RAG-based pipeline for real-time semantic searches.</a:t>
            </a:r>
            <a:endParaRPr lang="en-US" sz="1050" dirty="0"/>
          </a:p>
        </p:txBody>
      </p:sp>
      <p:sp>
        <p:nvSpPr>
          <p:cNvPr id="11" name="Text 7"/>
          <p:cNvSpPr/>
          <p:nvPr/>
        </p:nvSpPr>
        <p:spPr>
          <a:xfrm>
            <a:off x="857250" y="3676352"/>
            <a:ext cx="3087384" cy="214313"/>
          </a:xfrm>
          <a:prstGeom prst="rect">
            <a:avLst/>
          </a:prstGeom>
          <a:noFill/>
          <a:ln/>
        </p:spPr>
        <p:txBody>
          <a:bodyPr wrap="none" lIns="0" tIns="0" rIns="0" bIns="0" rtlCol="0" anchor="t">
            <a:spAutoFit/>
          </a:bodyPr>
          <a:lstStyle/>
          <a:p>
            <a:pPr algn="l" indent="0" marL="0">
              <a:lnSpc>
                <a:spcPct val="120000"/>
              </a:lnSpc>
              <a:buNone/>
            </a:pPr>
            <a:r>
              <a:rPr lang="en-US" sz="1050" dirty="0">
                <a:solidFill>
                  <a:srgbClr val="2C3E50"/>
                </a:solidFill>
                <a:latin typeface="Work Sans" pitchFamily="34" charset="0"/>
                <a:ea typeface="Work Sans" pitchFamily="34" charset="-122"/>
                <a:cs typeface="Work Sans" pitchFamily="34" charset="-120"/>
              </a:rPr>
              <a:t>Implement a "Filtering Layer" for noise reduction.</a:t>
            </a:r>
            <a:endParaRPr lang="en-US" sz="1050" dirty="0"/>
          </a:p>
        </p:txBody>
      </p:sp>
      <p:sp>
        <p:nvSpPr>
          <p:cNvPr id="12" name="Text 8"/>
          <p:cNvSpPr/>
          <p:nvPr/>
        </p:nvSpPr>
        <p:spPr>
          <a:xfrm>
            <a:off x="857250" y="3962102"/>
            <a:ext cx="4010909" cy="214313"/>
          </a:xfrm>
          <a:prstGeom prst="rect">
            <a:avLst/>
          </a:prstGeom>
          <a:noFill/>
          <a:ln/>
        </p:spPr>
        <p:txBody>
          <a:bodyPr wrap="none" lIns="0" tIns="0" rIns="0" bIns="0" rtlCol="0" anchor="t">
            <a:spAutoFit/>
          </a:bodyPr>
          <a:lstStyle/>
          <a:p>
            <a:pPr algn="l" indent="0" marL="0">
              <a:lnSpc>
                <a:spcPct val="120000"/>
              </a:lnSpc>
              <a:buNone/>
            </a:pPr>
            <a:r>
              <a:rPr lang="en-US" sz="1050" dirty="0">
                <a:solidFill>
                  <a:srgbClr val="2C3E50"/>
                </a:solidFill>
                <a:latin typeface="Work Sans" pitchFamily="34" charset="0"/>
                <a:ea typeface="Work Sans" pitchFamily="34" charset="-122"/>
                <a:cs typeface="Work Sans" pitchFamily="34" charset="-120"/>
              </a:rPr>
              <a:t>Enable adaptive retrieval to know *when* to fetch external data.</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262533"/>
          </a:xfrm>
          <a:prstGeom prst="rect">
            <a:avLst/>
          </a:prstGeom>
          <a:noFill/>
          <a:ln/>
        </p:spPr>
        <p:txBody>
          <a:bodyPr wrap="square" lIns="0" tIns="0" rIns="0" bIns="0" rtlCol="0" anchor="t">
            <a:spAutoFit/>
          </a:bodyPr>
          <a:lstStyle/>
          <a:p>
            <a:pPr algn="l" indent="0" marL="0">
              <a:buNone/>
            </a:pPr>
            <a:r>
              <a:rPr lang="en-US" sz="1600" b="1" dirty="0">
                <a:solidFill>
                  <a:srgbClr val="0F2537"/>
                </a:solidFill>
                <a:latin typeface="Playfair Display Bold" pitchFamily="34" charset="0"/>
                <a:ea typeface="Playfair Display Bold" pitchFamily="34" charset="-122"/>
                <a:cs typeface="Playfair Display Bold" pitchFamily="34" charset="-120"/>
              </a:rPr>
              <a:t>Q2 Achievements: Methodology Implementation</a:t>
            </a:r>
            <a:endParaRPr lang="en-US" sz="1600" dirty="0"/>
          </a:p>
        </p:txBody>
      </p:sp>
      <p:sp>
        <p:nvSpPr>
          <p:cNvPr id="5" name="Text 1"/>
          <p:cNvSpPr/>
          <p:nvPr/>
        </p:nvSpPr>
        <p:spPr>
          <a:xfrm>
            <a:off x="571500" y="1119783"/>
            <a:ext cx="3786188" cy="182166"/>
          </a:xfrm>
          <a:prstGeom prst="rect">
            <a:avLst/>
          </a:prstGeom>
          <a:noFill/>
          <a:ln/>
        </p:spPr>
        <p:txBody>
          <a:bodyPr wrap="square" lIns="0" tIns="0" rIns="0" bIns="0" rtlCol="0" anchor="t">
            <a:spAutoFit/>
          </a:bodyPr>
          <a:lstStyle/>
          <a:p>
            <a:pPr algn="l" indent="0" marL="0">
              <a:buNone/>
            </a:pPr>
            <a:r>
              <a:rPr lang="en-US" sz="1100" dirty="0">
                <a:solidFill>
                  <a:srgbClr val="D96C06"/>
                </a:solidFill>
                <a:latin typeface="Work Sans SemiBold" pitchFamily="34" charset="0"/>
                <a:ea typeface="Work Sans SemiBold" pitchFamily="34" charset="-122"/>
                <a:cs typeface="Work Sans SemiBold" pitchFamily="34" charset="-120"/>
              </a:rPr>
              <a:t>Input Processing</a:t>
            </a:r>
            <a:endParaRPr lang="en-US" sz="1100" dirty="0"/>
          </a:p>
        </p:txBody>
      </p:sp>
      <p:sp>
        <p:nvSpPr>
          <p:cNvPr id="6" name="Text 2"/>
          <p:cNvSpPr/>
          <p:nvPr/>
        </p:nvSpPr>
        <p:spPr>
          <a:xfrm>
            <a:off x="785813" y="1409105"/>
            <a:ext cx="3309454"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Established tokenization pipelines for multi-turn dialogues.</a:t>
            </a:r>
            <a:endParaRPr lang="en-US" sz="950" dirty="0"/>
          </a:p>
        </p:txBody>
      </p:sp>
      <p:sp>
        <p:nvSpPr>
          <p:cNvPr id="7" name="Text 3"/>
          <p:cNvSpPr/>
          <p:nvPr/>
        </p:nvSpPr>
        <p:spPr>
          <a:xfrm>
            <a:off x="785813" y="1700547"/>
            <a:ext cx="3238128"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Automated speaker identification and context windowing.</a:t>
            </a:r>
            <a:endParaRPr lang="en-US" sz="950" dirty="0"/>
          </a:p>
        </p:txBody>
      </p:sp>
      <p:sp>
        <p:nvSpPr>
          <p:cNvPr id="8" name="Text 4"/>
          <p:cNvSpPr/>
          <p:nvPr/>
        </p:nvSpPr>
        <p:spPr>
          <a:xfrm>
            <a:off x="571500" y="2049140"/>
            <a:ext cx="3786188" cy="182166"/>
          </a:xfrm>
          <a:prstGeom prst="rect">
            <a:avLst/>
          </a:prstGeom>
          <a:noFill/>
          <a:ln/>
        </p:spPr>
        <p:txBody>
          <a:bodyPr wrap="square" lIns="0" tIns="0" rIns="0" bIns="0" rtlCol="0" anchor="t">
            <a:spAutoFit/>
          </a:bodyPr>
          <a:lstStyle/>
          <a:p>
            <a:pPr algn="l" indent="0" marL="0">
              <a:buNone/>
            </a:pPr>
            <a:r>
              <a:rPr lang="en-US" sz="1100" dirty="0">
                <a:solidFill>
                  <a:srgbClr val="D96C06"/>
                </a:solidFill>
                <a:latin typeface="Work Sans SemiBold" pitchFamily="34" charset="0"/>
                <a:ea typeface="Work Sans SemiBold" pitchFamily="34" charset="-122"/>
                <a:cs typeface="Work Sans SemiBold" pitchFamily="34" charset="-120"/>
              </a:rPr>
              <a:t>Augmentation Strategy</a:t>
            </a:r>
            <a:endParaRPr lang="en-US" sz="1100" dirty="0"/>
          </a:p>
        </p:txBody>
      </p:sp>
      <p:sp>
        <p:nvSpPr>
          <p:cNvPr id="9" name="Text 5"/>
          <p:cNvSpPr/>
          <p:nvPr/>
        </p:nvSpPr>
        <p:spPr>
          <a:xfrm>
            <a:off x="785813" y="2338462"/>
            <a:ext cx="3571875"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Developed mechanisms to inject retrieved "Knowledge Triples" into the prompt.</a:t>
            </a:r>
            <a:endParaRPr lang="en-US" sz="950" dirty="0"/>
          </a:p>
        </p:txBody>
      </p:sp>
      <p:sp>
        <p:nvSpPr>
          <p:cNvPr id="10" name="Text 6"/>
          <p:cNvSpPr/>
          <p:nvPr/>
        </p:nvSpPr>
        <p:spPr>
          <a:xfrm>
            <a:off x="785813" y="2835622"/>
            <a:ext cx="2851779"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Optimized prompt templates for factual grounding.</a:t>
            </a:r>
            <a:endParaRPr lang="en-US" sz="950" dirty="0"/>
          </a:p>
        </p:txBody>
      </p:sp>
      <p:sp>
        <p:nvSpPr>
          <p:cNvPr id="11" name="Text 7"/>
          <p:cNvSpPr/>
          <p:nvPr/>
        </p:nvSpPr>
        <p:spPr>
          <a:xfrm>
            <a:off x="4786313" y="1119783"/>
            <a:ext cx="3786188" cy="182166"/>
          </a:xfrm>
          <a:prstGeom prst="rect">
            <a:avLst/>
          </a:prstGeom>
          <a:noFill/>
          <a:ln/>
        </p:spPr>
        <p:txBody>
          <a:bodyPr wrap="square" lIns="0" tIns="0" rIns="0" bIns="0" rtlCol="0" anchor="t">
            <a:spAutoFit/>
          </a:bodyPr>
          <a:lstStyle/>
          <a:p>
            <a:pPr algn="l" indent="0" marL="0">
              <a:buNone/>
            </a:pPr>
            <a:r>
              <a:rPr lang="en-US" sz="1100" dirty="0">
                <a:solidFill>
                  <a:srgbClr val="D96C06"/>
                </a:solidFill>
                <a:latin typeface="Work Sans SemiBold" pitchFamily="34" charset="0"/>
                <a:ea typeface="Work Sans SemiBold" pitchFamily="34" charset="-122"/>
                <a:cs typeface="Work Sans SemiBold" pitchFamily="34" charset="-120"/>
              </a:rPr>
              <a:t>Retrieval Engine Setup</a:t>
            </a:r>
            <a:endParaRPr lang="en-US" sz="1100" dirty="0"/>
          </a:p>
        </p:txBody>
      </p:sp>
      <p:sp>
        <p:nvSpPr>
          <p:cNvPr id="12" name="Text 8"/>
          <p:cNvSpPr/>
          <p:nvPr/>
        </p:nvSpPr>
        <p:spPr>
          <a:xfrm>
            <a:off x="5000625" y="1409105"/>
            <a:ext cx="2673158"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Formulated query logic from dialogue snippets.</a:t>
            </a:r>
            <a:endParaRPr lang="en-US" sz="950" dirty="0"/>
          </a:p>
        </p:txBody>
      </p:sp>
      <p:sp>
        <p:nvSpPr>
          <p:cNvPr id="13" name="Text 9"/>
          <p:cNvSpPr/>
          <p:nvPr/>
        </p:nvSpPr>
        <p:spPr>
          <a:xfrm>
            <a:off x="5000625" y="1700547"/>
            <a:ext cx="3230761"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Deployed Vector Database using ChromaDB and FAISS.</a:t>
            </a:r>
            <a:endParaRPr lang="en-US" sz="950" dirty="0"/>
          </a:p>
        </p:txBody>
      </p:sp>
      <p:sp>
        <p:nvSpPr>
          <p:cNvPr id="14" name="Text 10"/>
          <p:cNvSpPr/>
          <p:nvPr/>
        </p:nvSpPr>
        <p:spPr>
          <a:xfrm>
            <a:off x="5000625" y="1991990"/>
            <a:ext cx="3571875"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Implemented Dense Passage Retrieval (DPR) for semantic search.</a:t>
            </a:r>
            <a:endParaRPr lang="en-US" sz="950" dirty="0"/>
          </a:p>
        </p:txBody>
      </p:sp>
      <p:sp>
        <p:nvSpPr>
          <p:cNvPr id="15" name="Text 11"/>
          <p:cNvSpPr/>
          <p:nvPr/>
        </p:nvSpPr>
        <p:spPr>
          <a:xfrm>
            <a:off x="5000625" y="2489150"/>
            <a:ext cx="2923105"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Achieved sub-second latency for real-time retrieval.</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428625"/>
            <a:ext cx="8286750" cy="262533"/>
          </a:xfrm>
          <a:prstGeom prst="rect">
            <a:avLst/>
          </a:prstGeom>
          <a:noFill/>
          <a:ln/>
        </p:spPr>
        <p:txBody>
          <a:bodyPr wrap="square" lIns="0" tIns="0" rIns="0" bIns="0" rtlCol="0" anchor="t">
            <a:spAutoFit/>
          </a:bodyPr>
          <a:lstStyle/>
          <a:p>
            <a:pPr algn="l" indent="0" marL="0">
              <a:buNone/>
            </a:pPr>
            <a:r>
              <a:rPr lang="en-US" sz="1600" b="1" dirty="0">
                <a:solidFill>
                  <a:srgbClr val="0F2537"/>
                </a:solidFill>
                <a:latin typeface="Playfair Display Bold" pitchFamily="34" charset="0"/>
                <a:ea typeface="Playfair Display Bold" pitchFamily="34" charset="-122"/>
                <a:cs typeface="Playfair Display Bold" pitchFamily="34" charset="-120"/>
              </a:rPr>
              <a:t>System Architecture Overview</a:t>
            </a:r>
            <a:endParaRPr lang="en-US" sz="1600" dirty="0"/>
          </a:p>
        </p:txBody>
      </p:sp>
      <p:sp>
        <p:nvSpPr>
          <p:cNvPr id="5" name="Text 1"/>
          <p:cNvSpPr/>
          <p:nvPr/>
        </p:nvSpPr>
        <p:spPr>
          <a:xfrm>
            <a:off x="428625" y="1126927"/>
            <a:ext cx="2428875" cy="198239"/>
          </a:xfrm>
          <a:prstGeom prst="rect">
            <a:avLst/>
          </a:prstGeom>
          <a:noFill/>
          <a:ln/>
        </p:spPr>
        <p:txBody>
          <a:bodyPr wrap="square" lIns="0" tIns="0" rIns="0" bIns="0" rtlCol="0" anchor="t">
            <a:spAutoFit/>
          </a:bodyPr>
          <a:lstStyle/>
          <a:p>
            <a:pPr algn="l" indent="0" marL="0">
              <a:buNone/>
            </a:pPr>
            <a:r>
              <a:rPr lang="en-US" sz="1200" b="1" dirty="0">
                <a:solidFill>
                  <a:srgbClr val="0F2537"/>
                </a:solidFill>
                <a:latin typeface="Playfair Display Bold" pitchFamily="34" charset="0"/>
                <a:ea typeface="Playfair Display Bold" pitchFamily="34" charset="-122"/>
                <a:cs typeface="Playfair Display Bold" pitchFamily="34" charset="-120"/>
              </a:rPr>
              <a:t>Input</a:t>
            </a:r>
            <a:endParaRPr lang="en-US" sz="1200" dirty="0"/>
          </a:p>
        </p:txBody>
      </p:sp>
      <p:sp>
        <p:nvSpPr>
          <p:cNvPr id="6" name="Text 2"/>
          <p:cNvSpPr/>
          <p:nvPr/>
        </p:nvSpPr>
        <p:spPr>
          <a:xfrm>
            <a:off x="428625" y="1396603"/>
            <a:ext cx="2428875" cy="192881"/>
          </a:xfrm>
          <a:prstGeom prst="rect">
            <a:avLst/>
          </a:prstGeom>
          <a:noFill/>
          <a:ln/>
        </p:spPr>
        <p:txBody>
          <a:bodyPr wrap="none" lIns="0" tIns="0" rIns="0" bIns="0" rtlCol="0" anchor="t">
            <a:spAutoFit/>
          </a:bodyPr>
          <a:lstStyle/>
          <a:p>
            <a:pPr algn="l" indent="0" marL="0">
              <a:lnSpc>
                <a:spcPct val="120000"/>
              </a:lnSpc>
              <a:buNone/>
            </a:pPr>
            <a:r>
              <a:rPr lang="en-US" sz="950" dirty="0">
                <a:solidFill>
                  <a:srgbClr val="2C3E50"/>
                </a:solidFill>
                <a:latin typeface="Work Sans" pitchFamily="34" charset="0"/>
                <a:ea typeface="Work Sans" pitchFamily="34" charset="-122"/>
                <a:cs typeface="Work Sans" pitchFamily="34" charset="-120"/>
              </a:rPr>
              <a:t>Multi-turn User Dialogue.</a:t>
            </a:r>
            <a:endParaRPr lang="en-US" sz="950" dirty="0"/>
          </a:p>
        </p:txBody>
      </p:sp>
      <p:sp>
        <p:nvSpPr>
          <p:cNvPr id="7" name="Text 3"/>
          <p:cNvSpPr/>
          <p:nvPr/>
        </p:nvSpPr>
        <p:spPr>
          <a:xfrm>
            <a:off x="3143250" y="1126927"/>
            <a:ext cx="2428875" cy="198239"/>
          </a:xfrm>
          <a:prstGeom prst="rect">
            <a:avLst/>
          </a:prstGeom>
          <a:noFill/>
          <a:ln/>
        </p:spPr>
        <p:txBody>
          <a:bodyPr wrap="square" lIns="0" tIns="0" rIns="0" bIns="0" rtlCol="0" anchor="t">
            <a:spAutoFit/>
          </a:bodyPr>
          <a:lstStyle/>
          <a:p>
            <a:pPr algn="l" indent="0" marL="0">
              <a:buNone/>
            </a:pPr>
            <a:r>
              <a:rPr lang="en-US" sz="1200" b="1" dirty="0">
                <a:solidFill>
                  <a:srgbClr val="0F2537"/>
                </a:solidFill>
                <a:latin typeface="Playfair Display Bold" pitchFamily="34" charset="0"/>
                <a:ea typeface="Playfair Display Bold" pitchFamily="34" charset="-122"/>
                <a:cs typeface="Playfair Display Bold" pitchFamily="34" charset="-120"/>
              </a:rPr>
              <a:t>Encoder</a:t>
            </a:r>
            <a:endParaRPr lang="en-US" sz="1200" dirty="0"/>
          </a:p>
        </p:txBody>
      </p:sp>
      <p:sp>
        <p:nvSpPr>
          <p:cNvPr id="8" name="Text 4"/>
          <p:cNvSpPr/>
          <p:nvPr/>
        </p:nvSpPr>
        <p:spPr>
          <a:xfrm>
            <a:off x="3143250" y="1396603"/>
            <a:ext cx="2428875" cy="385763"/>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2C3E50"/>
                </a:solidFill>
                <a:latin typeface="Work Sans" pitchFamily="34" charset="0"/>
                <a:ea typeface="Work Sans" pitchFamily="34" charset="-122"/>
                <a:cs typeface="Work Sans" pitchFamily="34" charset="-120"/>
              </a:rPr>
              <a:t>Transformer-based Bi-Encoder for embedding.</a:t>
            </a:r>
            <a:endParaRPr lang="en-US" sz="950" dirty="0"/>
          </a:p>
        </p:txBody>
      </p:sp>
      <p:sp>
        <p:nvSpPr>
          <p:cNvPr id="9" name="Text 5"/>
          <p:cNvSpPr/>
          <p:nvPr/>
        </p:nvSpPr>
        <p:spPr>
          <a:xfrm>
            <a:off x="5857875" y="1126927"/>
            <a:ext cx="2428875" cy="198239"/>
          </a:xfrm>
          <a:prstGeom prst="rect">
            <a:avLst/>
          </a:prstGeom>
          <a:noFill/>
          <a:ln/>
        </p:spPr>
        <p:txBody>
          <a:bodyPr wrap="square" lIns="0" tIns="0" rIns="0" bIns="0" rtlCol="0" anchor="t">
            <a:spAutoFit/>
          </a:bodyPr>
          <a:lstStyle/>
          <a:p>
            <a:pPr algn="l" indent="0" marL="0">
              <a:buNone/>
            </a:pPr>
            <a:r>
              <a:rPr lang="en-US" sz="1200" b="1" dirty="0">
                <a:solidFill>
                  <a:srgbClr val="0F2537"/>
                </a:solidFill>
                <a:latin typeface="Playfair Display Bold" pitchFamily="34" charset="0"/>
                <a:ea typeface="Playfair Display Bold" pitchFamily="34" charset="-122"/>
                <a:cs typeface="Playfair Display Bold" pitchFamily="34" charset="-120"/>
              </a:rPr>
              <a:t>Knowledge Base</a:t>
            </a:r>
            <a:endParaRPr lang="en-US" sz="1200" dirty="0"/>
          </a:p>
        </p:txBody>
      </p:sp>
      <p:sp>
        <p:nvSpPr>
          <p:cNvPr id="10" name="Text 6"/>
          <p:cNvSpPr/>
          <p:nvPr/>
        </p:nvSpPr>
        <p:spPr>
          <a:xfrm>
            <a:off x="5857875" y="1396603"/>
            <a:ext cx="2428875" cy="385763"/>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2C3E50"/>
                </a:solidFill>
                <a:latin typeface="Work Sans" pitchFamily="34" charset="0"/>
                <a:ea typeface="Work Sans" pitchFamily="34" charset="-122"/>
                <a:cs typeface="Work Sans" pitchFamily="34" charset="-120"/>
              </a:rPr>
              <a:t>Integrated external unstructured/structured data.</a:t>
            </a:r>
            <a:endParaRPr lang="en-US" sz="950" dirty="0"/>
          </a:p>
        </p:txBody>
      </p:sp>
      <p:sp>
        <p:nvSpPr>
          <p:cNvPr id="11" name="Text 7"/>
          <p:cNvSpPr/>
          <p:nvPr/>
        </p:nvSpPr>
        <p:spPr>
          <a:xfrm>
            <a:off x="428625" y="2796778"/>
            <a:ext cx="2428875" cy="198239"/>
          </a:xfrm>
          <a:prstGeom prst="rect">
            <a:avLst/>
          </a:prstGeom>
          <a:noFill/>
          <a:ln/>
        </p:spPr>
        <p:txBody>
          <a:bodyPr wrap="square" lIns="0" tIns="0" rIns="0" bIns="0" rtlCol="0" anchor="t">
            <a:spAutoFit/>
          </a:bodyPr>
          <a:lstStyle/>
          <a:p>
            <a:pPr algn="l" indent="0" marL="0">
              <a:buNone/>
            </a:pPr>
            <a:r>
              <a:rPr lang="en-US" sz="1200" b="1" dirty="0">
                <a:solidFill>
                  <a:srgbClr val="0F2537"/>
                </a:solidFill>
                <a:latin typeface="Playfair Display Bold" pitchFamily="34" charset="0"/>
                <a:ea typeface="Playfair Display Bold" pitchFamily="34" charset="-122"/>
                <a:cs typeface="Playfair Display Bold" pitchFamily="34" charset="-120"/>
              </a:rPr>
              <a:t>Fusion Layer</a:t>
            </a:r>
            <a:endParaRPr lang="en-US" sz="1200" dirty="0"/>
          </a:p>
        </p:txBody>
      </p:sp>
      <p:sp>
        <p:nvSpPr>
          <p:cNvPr id="12" name="Text 8"/>
          <p:cNvSpPr/>
          <p:nvPr/>
        </p:nvSpPr>
        <p:spPr>
          <a:xfrm>
            <a:off x="428625" y="3066455"/>
            <a:ext cx="2428875" cy="385763"/>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2C3E50"/>
                </a:solidFill>
                <a:latin typeface="Work Sans" pitchFamily="34" charset="0"/>
                <a:ea typeface="Work Sans" pitchFamily="34" charset="-122"/>
                <a:cs typeface="Work Sans" pitchFamily="34" charset="-120"/>
              </a:rPr>
              <a:t>Combines dialogue context + retrieved context.</a:t>
            </a:r>
            <a:endParaRPr lang="en-US" sz="950" dirty="0"/>
          </a:p>
        </p:txBody>
      </p:sp>
      <p:sp>
        <p:nvSpPr>
          <p:cNvPr id="13" name="Text 9"/>
          <p:cNvSpPr/>
          <p:nvPr/>
        </p:nvSpPr>
        <p:spPr>
          <a:xfrm>
            <a:off x="3143250" y="2796778"/>
            <a:ext cx="2428875" cy="198239"/>
          </a:xfrm>
          <a:prstGeom prst="rect">
            <a:avLst/>
          </a:prstGeom>
          <a:noFill/>
          <a:ln/>
        </p:spPr>
        <p:txBody>
          <a:bodyPr wrap="square" lIns="0" tIns="0" rIns="0" bIns="0" rtlCol="0" anchor="t">
            <a:spAutoFit/>
          </a:bodyPr>
          <a:lstStyle/>
          <a:p>
            <a:pPr algn="l" indent="0" marL="0">
              <a:buNone/>
            </a:pPr>
            <a:r>
              <a:rPr lang="en-US" sz="1200" b="1" dirty="0">
                <a:solidFill>
                  <a:srgbClr val="0F2537"/>
                </a:solidFill>
                <a:latin typeface="Playfair Display Bold" pitchFamily="34" charset="0"/>
                <a:ea typeface="Playfair Display Bold" pitchFamily="34" charset="-122"/>
                <a:cs typeface="Playfair Display Bold" pitchFamily="34" charset="-120"/>
              </a:rPr>
              <a:t>Decoder</a:t>
            </a:r>
            <a:endParaRPr lang="en-US" sz="1200" dirty="0"/>
          </a:p>
        </p:txBody>
      </p:sp>
      <p:sp>
        <p:nvSpPr>
          <p:cNvPr id="14" name="Text 10"/>
          <p:cNvSpPr/>
          <p:nvPr/>
        </p:nvSpPr>
        <p:spPr>
          <a:xfrm>
            <a:off x="3143250" y="3066455"/>
            <a:ext cx="2428875" cy="385763"/>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2C3E50"/>
                </a:solidFill>
                <a:latin typeface="Work Sans" pitchFamily="34" charset="0"/>
                <a:ea typeface="Work Sans" pitchFamily="34" charset="-122"/>
                <a:cs typeface="Work Sans" pitchFamily="34" charset="-120"/>
              </a:rPr>
              <a:t>Generates the final grounded summary.</a:t>
            </a:r>
            <a:endParaRPr lang="en-US" sz="950" dirty="0"/>
          </a:p>
        </p:txBody>
      </p:sp>
      <p:sp>
        <p:nvSpPr>
          <p:cNvPr id="15" name="Text 11"/>
          <p:cNvSpPr/>
          <p:nvPr/>
        </p:nvSpPr>
        <p:spPr>
          <a:xfrm>
            <a:off x="5857875" y="2796778"/>
            <a:ext cx="2428875" cy="198239"/>
          </a:xfrm>
          <a:prstGeom prst="rect">
            <a:avLst/>
          </a:prstGeom>
          <a:noFill/>
          <a:ln/>
        </p:spPr>
        <p:txBody>
          <a:bodyPr wrap="square" lIns="0" tIns="0" rIns="0" bIns="0" rtlCol="0" anchor="t">
            <a:spAutoFit/>
          </a:bodyPr>
          <a:lstStyle/>
          <a:p>
            <a:pPr algn="l" indent="0" marL="0">
              <a:buNone/>
            </a:pPr>
            <a:r>
              <a:rPr lang="en-US" sz="1200" b="1" dirty="0">
                <a:solidFill>
                  <a:srgbClr val="0F2537"/>
                </a:solidFill>
                <a:latin typeface="Playfair Display Bold" pitchFamily="34" charset="0"/>
                <a:ea typeface="Playfair Display Bold" pitchFamily="34" charset="-122"/>
                <a:cs typeface="Playfair Display Bold" pitchFamily="34" charset="-120"/>
              </a:rPr>
              <a:t>Verifier</a:t>
            </a:r>
            <a:endParaRPr lang="en-US" sz="1200" dirty="0"/>
          </a:p>
        </p:txBody>
      </p:sp>
      <p:sp>
        <p:nvSpPr>
          <p:cNvPr id="16" name="Text 12"/>
          <p:cNvSpPr/>
          <p:nvPr/>
        </p:nvSpPr>
        <p:spPr>
          <a:xfrm>
            <a:off x="5857875" y="3066455"/>
            <a:ext cx="2428875" cy="385763"/>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2C3E50"/>
                </a:solidFill>
                <a:latin typeface="Work Sans" pitchFamily="34" charset="0"/>
                <a:ea typeface="Work Sans" pitchFamily="34" charset="-122"/>
                <a:cs typeface="Work Sans" pitchFamily="34" charset="-120"/>
              </a:rPr>
              <a:t>A secondary check for factual consistency.</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642938" y="735499"/>
            <a:ext cx="7858125" cy="262533"/>
          </a:xfrm>
          <a:prstGeom prst="rect">
            <a:avLst/>
          </a:prstGeom>
          <a:noFill/>
          <a:ln/>
        </p:spPr>
        <p:txBody>
          <a:bodyPr wrap="square" lIns="0" tIns="0" rIns="0" bIns="0" rtlCol="0" anchor="t">
            <a:spAutoFit/>
          </a:bodyPr>
          <a:lstStyle/>
          <a:p>
            <a:pPr algn="l" indent="0" marL="0">
              <a:buNone/>
            </a:pPr>
            <a:r>
              <a:rPr lang="en-US" sz="1600" b="1" dirty="0">
                <a:solidFill>
                  <a:srgbClr val="0F2537"/>
                </a:solidFill>
                <a:latin typeface="Playfair Display Bold" pitchFamily="34" charset="0"/>
                <a:ea typeface="Playfair Display Bold" pitchFamily="34" charset="-122"/>
                <a:cs typeface="Playfair Display Bold" pitchFamily="34" charset="-120"/>
              </a:rPr>
              <a:t>Algorithmic Foundation &amp; Infrastructure</a:t>
            </a:r>
            <a:endParaRPr lang="en-US" sz="1600" dirty="0"/>
          </a:p>
        </p:txBody>
      </p:sp>
      <p:sp>
        <p:nvSpPr>
          <p:cNvPr id="5" name="Text 1"/>
          <p:cNvSpPr/>
          <p:nvPr/>
        </p:nvSpPr>
        <p:spPr>
          <a:xfrm>
            <a:off x="642938" y="1358791"/>
            <a:ext cx="469785" cy="221456"/>
          </a:xfrm>
          <a:prstGeom prst="rect">
            <a:avLst/>
          </a:prstGeom>
          <a:noFill/>
          <a:ln/>
        </p:spPr>
        <p:txBody>
          <a:bodyPr wrap="none" lIns="0" tIns="0" rIns="0" bIns="0" rtlCol="0" anchor="t">
            <a:spAutoFit/>
          </a:bodyPr>
          <a:lstStyle/>
          <a:p>
            <a:pPr algn="l" indent="0" marL="0">
              <a:buNone/>
            </a:pPr>
            <a:r>
              <a:rPr lang="en-US" sz="1400" b="1" dirty="0">
                <a:solidFill>
                  <a:srgbClr val="D96C06"/>
                </a:solidFill>
                <a:latin typeface="Playfair Display Bold" pitchFamily="34" charset="0"/>
                <a:ea typeface="Playfair Display Bold" pitchFamily="34" charset="-122"/>
                <a:cs typeface="Playfair Display Bold" pitchFamily="34" charset="-120"/>
              </a:rPr>
              <a:t>L = L</a:t>
            </a:r>
            <a:endParaRPr lang="en-US" sz="1400" dirty="0"/>
          </a:p>
        </p:txBody>
      </p:sp>
      <p:sp>
        <p:nvSpPr>
          <p:cNvPr id="6" name="Text 2"/>
          <p:cNvSpPr/>
          <p:nvPr/>
        </p:nvSpPr>
        <p:spPr>
          <a:xfrm>
            <a:off x="1112723" y="1430927"/>
            <a:ext cx="250031" cy="183952"/>
          </a:xfrm>
          <a:prstGeom prst="rect">
            <a:avLst/>
          </a:prstGeom>
          <a:noFill/>
          <a:ln/>
        </p:spPr>
        <p:txBody>
          <a:bodyPr wrap="none" lIns="0" tIns="0" rIns="0" bIns="0" rtlCol="0" anchor="t">
            <a:spAutoFit/>
          </a:bodyPr>
          <a:lstStyle/>
          <a:p>
            <a:pPr algn="l" indent="0" marL="0">
              <a:buNone/>
            </a:pPr>
            <a:r>
              <a:rPr lang="en-US" sz="1150" b="1" baseline="-40000" dirty="0">
                <a:solidFill>
                  <a:srgbClr val="D96C06"/>
                </a:solidFill>
                <a:latin typeface="Playfair Display Bold" pitchFamily="34" charset="0"/>
                <a:ea typeface="Playfair Display Bold" pitchFamily="34" charset="-122"/>
                <a:cs typeface="Playfair Display Bold" pitchFamily="34" charset="-120"/>
              </a:rPr>
              <a:t>gen</a:t>
            </a:r>
            <a:endParaRPr lang="en-US" sz="1150" dirty="0"/>
          </a:p>
        </p:txBody>
      </p:sp>
      <p:sp>
        <p:nvSpPr>
          <p:cNvPr id="7" name="Text 3"/>
          <p:cNvSpPr/>
          <p:nvPr/>
        </p:nvSpPr>
        <p:spPr>
          <a:xfrm>
            <a:off x="1362754" y="1358791"/>
            <a:ext cx="495681" cy="221456"/>
          </a:xfrm>
          <a:prstGeom prst="rect">
            <a:avLst/>
          </a:prstGeom>
          <a:noFill/>
          <a:ln/>
        </p:spPr>
        <p:txBody>
          <a:bodyPr wrap="none" lIns="0" tIns="0" rIns="0" bIns="0" rtlCol="0" anchor="t">
            <a:spAutoFit/>
          </a:bodyPr>
          <a:lstStyle/>
          <a:p>
            <a:pPr algn="l" indent="0" marL="0">
              <a:buNone/>
            </a:pPr>
            <a:r>
              <a:rPr lang="en-US" sz="1400" b="1" dirty="0">
                <a:solidFill>
                  <a:srgbClr val="D96C06"/>
                </a:solidFill>
                <a:latin typeface="Playfair Display Bold" pitchFamily="34" charset="0"/>
                <a:ea typeface="Playfair Display Bold" pitchFamily="34" charset="-122"/>
                <a:cs typeface="Playfair Display Bold" pitchFamily="34" charset="-120"/>
              </a:rPr>
              <a:t>+ λ L</a:t>
            </a:r>
            <a:endParaRPr lang="en-US" sz="1400" dirty="0"/>
          </a:p>
        </p:txBody>
      </p:sp>
      <p:sp>
        <p:nvSpPr>
          <p:cNvPr id="8" name="Text 4"/>
          <p:cNvSpPr/>
          <p:nvPr/>
        </p:nvSpPr>
        <p:spPr>
          <a:xfrm>
            <a:off x="1858435" y="1430927"/>
            <a:ext cx="268337" cy="183952"/>
          </a:xfrm>
          <a:prstGeom prst="rect">
            <a:avLst/>
          </a:prstGeom>
          <a:noFill/>
          <a:ln/>
        </p:spPr>
        <p:txBody>
          <a:bodyPr wrap="none" lIns="0" tIns="0" rIns="0" bIns="0" rtlCol="0" anchor="t">
            <a:spAutoFit/>
          </a:bodyPr>
          <a:lstStyle/>
          <a:p>
            <a:pPr algn="l" indent="0" marL="0">
              <a:buNone/>
            </a:pPr>
            <a:r>
              <a:rPr lang="en-US" sz="1150" b="1" baseline="-40000" dirty="0">
                <a:solidFill>
                  <a:srgbClr val="D96C06"/>
                </a:solidFill>
                <a:latin typeface="Playfair Display Bold" pitchFamily="34" charset="0"/>
                <a:ea typeface="Playfair Display Bold" pitchFamily="34" charset="-122"/>
                <a:cs typeface="Playfair Display Bold" pitchFamily="34" charset="-120"/>
              </a:rPr>
              <a:t>fact</a:t>
            </a:r>
            <a:endParaRPr lang="en-US" sz="1150" dirty="0"/>
          </a:p>
        </p:txBody>
      </p:sp>
      <p:sp>
        <p:nvSpPr>
          <p:cNvPr id="9" name="Text 5"/>
          <p:cNvSpPr/>
          <p:nvPr/>
        </p:nvSpPr>
        <p:spPr>
          <a:xfrm>
            <a:off x="642938" y="1689888"/>
            <a:ext cx="7858125" cy="146447"/>
          </a:xfrm>
          <a:prstGeom prst="rect">
            <a:avLst/>
          </a:prstGeom>
          <a:noFill/>
          <a:ln/>
        </p:spPr>
        <p:txBody>
          <a:bodyPr wrap="square" lIns="0" tIns="0" rIns="0" bIns="0" rtlCol="0" anchor="t">
            <a:spAutoFit/>
          </a:bodyPr>
          <a:lstStyle/>
          <a:p>
            <a:pPr algn="l" indent="0" marL="0">
              <a:buNone/>
            </a:pPr>
            <a:r>
              <a:rPr lang="en-US" sz="950" i="1" dirty="0">
                <a:solidFill>
                  <a:srgbClr val="2C3E50"/>
                </a:solidFill>
                <a:latin typeface="Work Sans" pitchFamily="34" charset="0"/>
                <a:ea typeface="Work Sans" pitchFamily="34" charset="-122"/>
                <a:cs typeface="Work Sans" pitchFamily="34" charset="-120"/>
              </a:rPr>
              <a:t>Objective Function: Combining standard Cross-Entropy Loss with a factual consistency penalty.</a:t>
            </a:r>
            <a:endParaRPr lang="en-US" sz="950" dirty="0"/>
          </a:p>
        </p:txBody>
      </p:sp>
      <p:sp>
        <p:nvSpPr>
          <p:cNvPr id="10" name="Text 6"/>
          <p:cNvSpPr/>
          <p:nvPr/>
        </p:nvSpPr>
        <p:spPr>
          <a:xfrm>
            <a:off x="642938" y="2059577"/>
            <a:ext cx="1597856" cy="221456"/>
          </a:xfrm>
          <a:prstGeom prst="rect">
            <a:avLst/>
          </a:prstGeom>
          <a:noFill/>
          <a:ln/>
        </p:spPr>
        <p:txBody>
          <a:bodyPr wrap="square" lIns="0" tIns="0" rIns="0" bIns="0" rtlCol="0" anchor="t">
            <a:spAutoFit/>
          </a:bodyPr>
          <a:lstStyle/>
          <a:p>
            <a:pPr algn="l" indent="0" marL="0">
              <a:buNone/>
            </a:pPr>
            <a:r>
              <a:rPr lang="en-US" sz="1400" b="1" dirty="0">
                <a:solidFill>
                  <a:srgbClr val="D96C06"/>
                </a:solidFill>
                <a:latin typeface="Playfair Display Bold" pitchFamily="34" charset="0"/>
                <a:ea typeface="Playfair Display Bold" pitchFamily="34" charset="-122"/>
                <a:cs typeface="Playfair Display Bold" pitchFamily="34" charset="-120"/>
              </a:rPr>
              <a:t>P(z|x) ∝ exp(sim(E</a:t>
            </a:r>
            <a:endParaRPr lang="en-US" sz="1400" dirty="0"/>
          </a:p>
        </p:txBody>
      </p:sp>
      <p:sp>
        <p:nvSpPr>
          <p:cNvPr id="11" name="Text 7"/>
          <p:cNvSpPr/>
          <p:nvPr/>
        </p:nvSpPr>
        <p:spPr>
          <a:xfrm>
            <a:off x="2240793" y="2131712"/>
            <a:ext cx="83353" cy="183952"/>
          </a:xfrm>
          <a:prstGeom prst="rect">
            <a:avLst/>
          </a:prstGeom>
          <a:noFill/>
          <a:ln/>
        </p:spPr>
        <p:txBody>
          <a:bodyPr wrap="none" lIns="0" tIns="0" rIns="0" bIns="0" rtlCol="0" anchor="t">
            <a:spAutoFit/>
          </a:bodyPr>
          <a:lstStyle/>
          <a:p>
            <a:pPr algn="l" indent="0" marL="0">
              <a:buNone/>
            </a:pPr>
            <a:r>
              <a:rPr lang="en-US" sz="1150" b="1" baseline="-40000" dirty="0">
                <a:solidFill>
                  <a:srgbClr val="D96C06"/>
                </a:solidFill>
                <a:latin typeface="Playfair Display Bold" pitchFamily="34" charset="0"/>
                <a:ea typeface="Playfair Display Bold" pitchFamily="34" charset="-122"/>
                <a:cs typeface="Playfair Display Bold" pitchFamily="34" charset="-120"/>
              </a:rPr>
              <a:t>x</a:t>
            </a:r>
            <a:endParaRPr lang="en-US" sz="1150" dirty="0"/>
          </a:p>
        </p:txBody>
      </p:sp>
      <p:sp>
        <p:nvSpPr>
          <p:cNvPr id="12" name="Text 8"/>
          <p:cNvSpPr/>
          <p:nvPr/>
        </p:nvSpPr>
        <p:spPr>
          <a:xfrm>
            <a:off x="2324147" y="2059577"/>
            <a:ext cx="233428" cy="221456"/>
          </a:xfrm>
          <a:prstGeom prst="rect">
            <a:avLst/>
          </a:prstGeom>
          <a:noFill/>
          <a:ln/>
        </p:spPr>
        <p:txBody>
          <a:bodyPr wrap="none" lIns="0" tIns="0" rIns="0" bIns="0" rtlCol="0" anchor="t">
            <a:spAutoFit/>
          </a:bodyPr>
          <a:lstStyle/>
          <a:p>
            <a:pPr algn="l" indent="0" marL="0">
              <a:buNone/>
            </a:pPr>
            <a:r>
              <a:rPr lang="en-US" sz="1400" b="1" dirty="0">
                <a:solidFill>
                  <a:srgbClr val="D96C06"/>
                </a:solidFill>
                <a:latin typeface="Playfair Display Bold" pitchFamily="34" charset="0"/>
                <a:ea typeface="Playfair Display Bold" pitchFamily="34" charset="-122"/>
                <a:cs typeface="Playfair Display Bold" pitchFamily="34" charset="-120"/>
              </a:rPr>
              <a:t>, E</a:t>
            </a:r>
            <a:endParaRPr lang="en-US" sz="1400" dirty="0"/>
          </a:p>
        </p:txBody>
      </p:sp>
      <p:sp>
        <p:nvSpPr>
          <p:cNvPr id="13" name="Text 9"/>
          <p:cNvSpPr/>
          <p:nvPr/>
        </p:nvSpPr>
        <p:spPr>
          <a:xfrm>
            <a:off x="2557574" y="2131712"/>
            <a:ext cx="74005" cy="183952"/>
          </a:xfrm>
          <a:prstGeom prst="rect">
            <a:avLst/>
          </a:prstGeom>
          <a:noFill/>
          <a:ln/>
        </p:spPr>
        <p:txBody>
          <a:bodyPr wrap="none" lIns="0" tIns="0" rIns="0" bIns="0" rtlCol="0" anchor="t">
            <a:spAutoFit/>
          </a:bodyPr>
          <a:lstStyle/>
          <a:p>
            <a:pPr algn="l" indent="0" marL="0">
              <a:buNone/>
            </a:pPr>
            <a:r>
              <a:rPr lang="en-US" sz="1150" b="1" baseline="-40000" dirty="0">
                <a:solidFill>
                  <a:srgbClr val="D96C06"/>
                </a:solidFill>
                <a:latin typeface="Playfair Display Bold" pitchFamily="34" charset="0"/>
                <a:ea typeface="Playfair Display Bold" pitchFamily="34" charset="-122"/>
                <a:cs typeface="Playfair Display Bold" pitchFamily="34" charset="-120"/>
              </a:rPr>
              <a:t>z</a:t>
            </a:r>
            <a:endParaRPr lang="en-US" sz="1150" dirty="0"/>
          </a:p>
        </p:txBody>
      </p:sp>
      <p:sp>
        <p:nvSpPr>
          <p:cNvPr id="14" name="Text 10"/>
          <p:cNvSpPr/>
          <p:nvPr/>
        </p:nvSpPr>
        <p:spPr>
          <a:xfrm>
            <a:off x="2631579" y="2059577"/>
            <a:ext cx="133220" cy="221456"/>
          </a:xfrm>
          <a:prstGeom prst="rect">
            <a:avLst/>
          </a:prstGeom>
          <a:noFill/>
          <a:ln/>
        </p:spPr>
        <p:txBody>
          <a:bodyPr wrap="none" lIns="0" tIns="0" rIns="0" bIns="0" rtlCol="0" anchor="t">
            <a:spAutoFit/>
          </a:bodyPr>
          <a:lstStyle/>
          <a:p>
            <a:pPr algn="l" indent="0" marL="0">
              <a:buNone/>
            </a:pPr>
            <a:r>
              <a:rPr lang="en-US" sz="1400" b="1" dirty="0">
                <a:solidFill>
                  <a:srgbClr val="D96C06"/>
                </a:solidFill>
                <a:latin typeface="Playfair Display Bold" pitchFamily="34" charset="0"/>
                <a:ea typeface="Playfair Display Bold" pitchFamily="34" charset="-122"/>
                <a:cs typeface="Playfair Display Bold" pitchFamily="34" charset="-120"/>
              </a:rPr>
              <a:t>))</a:t>
            </a:r>
            <a:endParaRPr lang="en-US" sz="1400" dirty="0"/>
          </a:p>
        </p:txBody>
      </p:sp>
      <p:sp>
        <p:nvSpPr>
          <p:cNvPr id="15" name="Text 11"/>
          <p:cNvSpPr/>
          <p:nvPr/>
        </p:nvSpPr>
        <p:spPr>
          <a:xfrm>
            <a:off x="642938" y="2390673"/>
            <a:ext cx="7858125" cy="146447"/>
          </a:xfrm>
          <a:prstGeom prst="rect">
            <a:avLst/>
          </a:prstGeom>
          <a:noFill/>
          <a:ln/>
        </p:spPr>
        <p:txBody>
          <a:bodyPr wrap="square" lIns="0" tIns="0" rIns="0" bIns="0" rtlCol="0" anchor="t">
            <a:spAutoFit/>
          </a:bodyPr>
          <a:lstStyle/>
          <a:p>
            <a:pPr algn="l" indent="0" marL="0">
              <a:buNone/>
            </a:pPr>
            <a:r>
              <a:rPr lang="en-US" sz="950" i="1" dirty="0">
                <a:solidFill>
                  <a:srgbClr val="2C3E50"/>
                </a:solidFill>
                <a:latin typeface="Work Sans" pitchFamily="34" charset="0"/>
                <a:ea typeface="Work Sans" pitchFamily="34" charset="-122"/>
                <a:cs typeface="Work Sans" pitchFamily="34" charset="-120"/>
              </a:rPr>
              <a:t>Retrieval Logic: Utilizing Cosine Similarity to find relevant external context 'z' for dialogue 'x'.</a:t>
            </a:r>
            <a:endParaRPr lang="en-US" sz="950" dirty="0"/>
          </a:p>
        </p:txBody>
      </p:sp>
      <p:sp>
        <p:nvSpPr>
          <p:cNvPr id="16" name="Text 12"/>
          <p:cNvSpPr/>
          <p:nvPr/>
        </p:nvSpPr>
        <p:spPr>
          <a:xfrm>
            <a:off x="642938" y="3330076"/>
            <a:ext cx="3786188" cy="182166"/>
          </a:xfrm>
          <a:prstGeom prst="rect">
            <a:avLst/>
          </a:prstGeom>
          <a:noFill/>
          <a:ln/>
        </p:spPr>
        <p:txBody>
          <a:bodyPr wrap="square" lIns="0" tIns="0" rIns="0" bIns="0" rtlCol="0" anchor="t">
            <a:spAutoFit/>
          </a:bodyPr>
          <a:lstStyle/>
          <a:p>
            <a:pPr algn="l" indent="0" marL="0">
              <a:buNone/>
            </a:pPr>
            <a:r>
              <a:rPr lang="en-US" sz="1100" dirty="0">
                <a:solidFill>
                  <a:srgbClr val="0F2537"/>
                </a:solidFill>
                <a:latin typeface="Work Sans SemiBold" pitchFamily="34" charset="0"/>
                <a:ea typeface="Work Sans SemiBold" pitchFamily="34" charset="-122"/>
                <a:cs typeface="Work Sans SemiBold" pitchFamily="34" charset="-120"/>
              </a:rPr>
              <a:t>Hardware Deployed</a:t>
            </a:r>
            <a:endParaRPr lang="en-US" sz="1100" dirty="0"/>
          </a:p>
        </p:txBody>
      </p:sp>
      <p:sp>
        <p:nvSpPr>
          <p:cNvPr id="17" name="Text 13"/>
          <p:cNvSpPr/>
          <p:nvPr/>
        </p:nvSpPr>
        <p:spPr>
          <a:xfrm>
            <a:off x="842963" y="3619398"/>
            <a:ext cx="2291804"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NVIDIA A100 / RTX 3090 (24GB VRAM)</a:t>
            </a:r>
            <a:endParaRPr lang="en-US" sz="950" dirty="0"/>
          </a:p>
        </p:txBody>
      </p:sp>
      <p:sp>
        <p:nvSpPr>
          <p:cNvPr id="18" name="Text 14"/>
          <p:cNvSpPr/>
          <p:nvPr/>
        </p:nvSpPr>
        <p:spPr>
          <a:xfrm>
            <a:off x="842963" y="3882265"/>
            <a:ext cx="1114732"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64GB System RAM</a:t>
            </a:r>
            <a:endParaRPr lang="en-US" sz="950" dirty="0"/>
          </a:p>
        </p:txBody>
      </p:sp>
      <p:sp>
        <p:nvSpPr>
          <p:cNvPr id="19" name="Text 15"/>
          <p:cNvSpPr/>
          <p:nvPr/>
        </p:nvSpPr>
        <p:spPr>
          <a:xfrm>
            <a:off x="842963" y="4145133"/>
            <a:ext cx="2644666"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High-speed NVMe Storage for Vector Indexing</a:t>
            </a:r>
            <a:endParaRPr lang="en-US" sz="950" dirty="0"/>
          </a:p>
        </p:txBody>
      </p:sp>
      <p:sp>
        <p:nvSpPr>
          <p:cNvPr id="20" name="Text 16"/>
          <p:cNvSpPr/>
          <p:nvPr/>
        </p:nvSpPr>
        <p:spPr>
          <a:xfrm>
            <a:off x="4714875" y="3330076"/>
            <a:ext cx="3786188" cy="182166"/>
          </a:xfrm>
          <a:prstGeom prst="rect">
            <a:avLst/>
          </a:prstGeom>
          <a:noFill/>
          <a:ln/>
        </p:spPr>
        <p:txBody>
          <a:bodyPr wrap="square" lIns="0" tIns="0" rIns="0" bIns="0" rtlCol="0" anchor="t">
            <a:spAutoFit/>
          </a:bodyPr>
          <a:lstStyle/>
          <a:p>
            <a:pPr algn="l" indent="0" marL="0">
              <a:buNone/>
            </a:pPr>
            <a:r>
              <a:rPr lang="en-US" sz="1100" dirty="0">
                <a:solidFill>
                  <a:srgbClr val="0F2537"/>
                </a:solidFill>
                <a:latin typeface="Work Sans SemiBold" pitchFamily="34" charset="0"/>
                <a:ea typeface="Work Sans SemiBold" pitchFamily="34" charset="-122"/>
                <a:cs typeface="Work Sans SemiBold" pitchFamily="34" charset="-120"/>
              </a:rPr>
              <a:t>Software Stack</a:t>
            </a:r>
            <a:endParaRPr lang="en-US" sz="1100" dirty="0"/>
          </a:p>
        </p:txBody>
      </p:sp>
      <p:sp>
        <p:nvSpPr>
          <p:cNvPr id="21" name="Text 17"/>
          <p:cNvSpPr/>
          <p:nvPr/>
        </p:nvSpPr>
        <p:spPr>
          <a:xfrm>
            <a:off x="4914900" y="3619398"/>
            <a:ext cx="2179709"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PyTorch &amp; HuggingFace Transformers</a:t>
            </a:r>
            <a:endParaRPr lang="en-US" sz="950" dirty="0"/>
          </a:p>
        </p:txBody>
      </p:sp>
      <p:sp>
        <p:nvSpPr>
          <p:cNvPr id="22" name="Text 18"/>
          <p:cNvSpPr/>
          <p:nvPr/>
        </p:nvSpPr>
        <p:spPr>
          <a:xfrm>
            <a:off x="4914900" y="3882265"/>
            <a:ext cx="1429615"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LangChain Orchestration</a:t>
            </a:r>
            <a:endParaRPr lang="en-US" sz="950" dirty="0"/>
          </a:p>
        </p:txBody>
      </p:sp>
      <p:sp>
        <p:nvSpPr>
          <p:cNvPr id="23" name="Text 19"/>
          <p:cNvSpPr/>
          <p:nvPr/>
        </p:nvSpPr>
        <p:spPr>
          <a:xfrm>
            <a:off x="4914900" y="4145133"/>
            <a:ext cx="2086980"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Pinecone / ChromaDB Vector Stores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262533"/>
          </a:xfrm>
          <a:prstGeom prst="rect">
            <a:avLst/>
          </a:prstGeom>
          <a:noFill/>
          <a:ln/>
        </p:spPr>
        <p:txBody>
          <a:bodyPr wrap="square" lIns="0" tIns="0" rIns="0" bIns="0" rtlCol="0" anchor="t">
            <a:spAutoFit/>
          </a:bodyPr>
          <a:lstStyle/>
          <a:p>
            <a:pPr algn="l" indent="0" marL="0">
              <a:buNone/>
            </a:pPr>
            <a:r>
              <a:rPr lang="en-US" sz="1600" b="1" dirty="0">
                <a:solidFill>
                  <a:srgbClr val="0F2537"/>
                </a:solidFill>
                <a:latin typeface="Playfair Display Bold" pitchFamily="34" charset="0"/>
                <a:ea typeface="Playfair Display Bold" pitchFamily="34" charset="-122"/>
                <a:cs typeface="Playfair Display Bold" pitchFamily="34" charset="-120"/>
              </a:rPr>
              <a:t>Datasets &amp; Evaluation Framework</a:t>
            </a:r>
            <a:endParaRPr lang="en-US" sz="1600" dirty="0"/>
          </a:p>
        </p:txBody>
      </p:sp>
      <p:sp>
        <p:nvSpPr>
          <p:cNvPr id="5" name="Text 1"/>
          <p:cNvSpPr/>
          <p:nvPr/>
        </p:nvSpPr>
        <p:spPr>
          <a:xfrm>
            <a:off x="571500" y="1055489"/>
            <a:ext cx="3840463" cy="198239"/>
          </a:xfrm>
          <a:prstGeom prst="rect">
            <a:avLst/>
          </a:prstGeom>
          <a:noFill/>
          <a:ln/>
        </p:spPr>
        <p:txBody>
          <a:bodyPr wrap="square" lIns="0" tIns="0" rIns="0" bIns="0" rtlCol="0" anchor="t">
            <a:spAutoFit/>
          </a:bodyPr>
          <a:lstStyle/>
          <a:p>
            <a:pPr algn="l" indent="0" marL="0">
              <a:buNone/>
            </a:pPr>
            <a:r>
              <a:rPr lang="en-US" sz="1200" b="1" dirty="0">
                <a:solidFill>
                  <a:srgbClr val="0F2537"/>
                </a:solidFill>
                <a:latin typeface="Playfair Display Bold" pitchFamily="34" charset="0"/>
                <a:ea typeface="Playfair Display Bold" pitchFamily="34" charset="-122"/>
                <a:cs typeface="Playfair Display Bold" pitchFamily="34" charset="-120"/>
              </a:rPr>
              <a:t>Datasets Prepared in Q2</a:t>
            </a:r>
            <a:endParaRPr lang="en-US" sz="1200" dirty="0"/>
          </a:p>
        </p:txBody>
      </p:sp>
      <p:sp>
        <p:nvSpPr>
          <p:cNvPr id="6" name="Text 2"/>
          <p:cNvSpPr/>
          <p:nvPr/>
        </p:nvSpPr>
        <p:spPr>
          <a:xfrm>
            <a:off x="785813" y="1396603"/>
            <a:ext cx="3626151"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DialogSum: Optimized for general multi-party conversations and turn-taking dynamics.</a:t>
            </a:r>
            <a:endParaRPr lang="en-US" sz="950" dirty="0"/>
          </a:p>
        </p:txBody>
      </p:sp>
      <p:sp>
        <p:nvSpPr>
          <p:cNvPr id="7" name="Text 3"/>
          <p:cNvSpPr/>
          <p:nvPr/>
        </p:nvSpPr>
        <p:spPr>
          <a:xfrm>
            <a:off x="785813" y="1893763"/>
            <a:ext cx="3626151"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MediaSum: Focused on news and interview-style dialogues with high factual density.</a:t>
            </a:r>
            <a:endParaRPr lang="en-US" sz="950" dirty="0"/>
          </a:p>
        </p:txBody>
      </p:sp>
      <p:sp>
        <p:nvSpPr>
          <p:cNvPr id="8" name="Text 4"/>
          <p:cNvSpPr/>
          <p:nvPr/>
        </p:nvSpPr>
        <p:spPr>
          <a:xfrm>
            <a:off x="785813" y="2390924"/>
            <a:ext cx="3626151"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Custom Knowledge Base: Integrated Wikipedia dumps and specialized domain documentation for RAG grounding.</a:t>
            </a:r>
            <a:endParaRPr lang="en-US" sz="950" dirty="0"/>
          </a:p>
        </p:txBody>
      </p:sp>
      <p:sp>
        <p:nvSpPr>
          <p:cNvPr id="9" name="Text 5"/>
          <p:cNvSpPr/>
          <p:nvPr/>
        </p:nvSpPr>
        <p:spPr>
          <a:xfrm>
            <a:off x="4732037" y="1055489"/>
            <a:ext cx="3840463" cy="198239"/>
          </a:xfrm>
          <a:prstGeom prst="rect">
            <a:avLst/>
          </a:prstGeom>
          <a:noFill/>
          <a:ln/>
        </p:spPr>
        <p:txBody>
          <a:bodyPr wrap="square" lIns="0" tIns="0" rIns="0" bIns="0" rtlCol="0" anchor="t">
            <a:spAutoFit/>
          </a:bodyPr>
          <a:lstStyle/>
          <a:p>
            <a:pPr algn="l" indent="0" marL="0">
              <a:buNone/>
            </a:pPr>
            <a:r>
              <a:rPr lang="en-US" sz="1200" b="1" dirty="0">
                <a:solidFill>
                  <a:srgbClr val="0F2537"/>
                </a:solidFill>
                <a:latin typeface="Playfair Display Bold" pitchFamily="34" charset="0"/>
                <a:ea typeface="Playfair Display Bold" pitchFamily="34" charset="-122"/>
                <a:cs typeface="Playfair Display Bold" pitchFamily="34" charset="-120"/>
              </a:rPr>
              <a:t>Evaluation Metrics Defined</a:t>
            </a:r>
            <a:endParaRPr lang="en-US" sz="1200" dirty="0"/>
          </a:p>
        </p:txBody>
      </p:sp>
      <p:sp>
        <p:nvSpPr>
          <p:cNvPr id="10" name="Text 6"/>
          <p:cNvSpPr/>
          <p:nvPr/>
        </p:nvSpPr>
        <p:spPr>
          <a:xfrm>
            <a:off x="4946349" y="1396603"/>
            <a:ext cx="3626151"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Standard Metrics: ROUGE-1, ROUGE-2, and ROUGE-L for linguistic fluency and overlap.</a:t>
            </a:r>
            <a:endParaRPr lang="en-US" sz="950" dirty="0"/>
          </a:p>
        </p:txBody>
      </p:sp>
      <p:sp>
        <p:nvSpPr>
          <p:cNvPr id="11" name="Text 7"/>
          <p:cNvSpPr/>
          <p:nvPr/>
        </p:nvSpPr>
        <p:spPr>
          <a:xfrm>
            <a:off x="4946349" y="1893763"/>
            <a:ext cx="3626151"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Knowledge Metrics: Entity Precision and Factual Consistency (FactCC) via NLI models.</a:t>
            </a:r>
            <a:endParaRPr lang="en-US" sz="950" dirty="0"/>
          </a:p>
        </p:txBody>
      </p:sp>
      <p:sp>
        <p:nvSpPr>
          <p:cNvPr id="12" name="Text 8"/>
          <p:cNvSpPr/>
          <p:nvPr/>
        </p:nvSpPr>
        <p:spPr>
          <a:xfrm>
            <a:off x="4946349" y="2390924"/>
            <a:ext cx="3626151"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Human Evaluation: Expert qualitative rating on Informativeness and Conciseness.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903573"/>
            <a:ext cx="8286750" cy="262533"/>
          </a:xfrm>
          <a:prstGeom prst="rect">
            <a:avLst/>
          </a:prstGeom>
          <a:noFill/>
          <a:ln/>
        </p:spPr>
        <p:txBody>
          <a:bodyPr wrap="square" lIns="0" tIns="0" rIns="0" bIns="0" rtlCol="0" anchor="t">
            <a:spAutoFit/>
          </a:bodyPr>
          <a:lstStyle/>
          <a:p>
            <a:pPr algn="l" indent="0" marL="0">
              <a:buNone/>
            </a:pPr>
            <a:r>
              <a:rPr lang="en-US" sz="1600" b="1" dirty="0">
                <a:solidFill>
                  <a:srgbClr val="0F2537"/>
                </a:solidFill>
                <a:latin typeface="Playfair Display Bold" pitchFamily="34" charset="0"/>
                <a:ea typeface="Playfair Display Bold" pitchFamily="34" charset="-122"/>
                <a:cs typeface="Playfair Display Bold" pitchFamily="34" charset="-120"/>
              </a:rPr>
              <a:t>Project Timeline &amp; Q3 Roadmap</a:t>
            </a:r>
            <a:endParaRPr lang="en-US" sz="1600" dirty="0"/>
          </a:p>
        </p:txBody>
      </p:sp>
      <p:sp>
        <p:nvSpPr>
          <p:cNvPr id="5" name="Text 1"/>
          <p:cNvSpPr/>
          <p:nvPr/>
        </p:nvSpPr>
        <p:spPr>
          <a:xfrm>
            <a:off x="428625" y="1630449"/>
            <a:ext cx="1285875" cy="146447"/>
          </a:xfrm>
          <a:prstGeom prst="rect">
            <a:avLst/>
          </a:prstGeom>
          <a:noFill/>
          <a:ln/>
        </p:spPr>
        <p:txBody>
          <a:bodyPr wrap="none" lIns="0" tIns="0" rIns="0" bIns="0" rtlCol="0" anchor="t">
            <a:spAutoFit/>
          </a:bodyPr>
          <a:lstStyle/>
          <a:p>
            <a:pPr algn="l" indent="0" marL="0">
              <a:buNone/>
            </a:pPr>
            <a:r>
              <a:rPr lang="en-US" sz="900" b="1" spc="1" kern="0" dirty="0">
                <a:solidFill>
                  <a:srgbClr val="D96C06"/>
                </a:solidFill>
                <a:latin typeface="Work Sans Bold" pitchFamily="34" charset="0"/>
                <a:ea typeface="Work Sans Bold" pitchFamily="34" charset="-122"/>
                <a:cs typeface="Work Sans Bold" pitchFamily="34" charset="-120"/>
              </a:rPr>
              <a:t>Q1 - Q2 2026</a:t>
            </a:r>
            <a:endParaRPr lang="en-US" sz="900" dirty="0"/>
          </a:p>
        </p:txBody>
      </p:sp>
      <p:sp>
        <p:nvSpPr>
          <p:cNvPr id="6" name="Text 2"/>
          <p:cNvSpPr/>
          <p:nvPr/>
        </p:nvSpPr>
        <p:spPr>
          <a:xfrm>
            <a:off x="1714500" y="1630449"/>
            <a:ext cx="5857875" cy="182166"/>
          </a:xfrm>
          <a:prstGeom prst="rect">
            <a:avLst/>
          </a:prstGeom>
          <a:noFill/>
          <a:ln/>
        </p:spPr>
        <p:txBody>
          <a:bodyPr wrap="square" lIns="0" tIns="0" rIns="0" bIns="0" rtlCol="0" anchor="t">
            <a:spAutoFit/>
          </a:bodyPr>
          <a:lstStyle/>
          <a:p>
            <a:pPr algn="l" indent="0" marL="0">
              <a:buNone/>
            </a:pPr>
            <a:r>
              <a:rPr lang="en-US" sz="1100" dirty="0">
                <a:solidFill>
                  <a:srgbClr val="0F2537"/>
                </a:solidFill>
                <a:latin typeface="Work Sans SemiBold" pitchFamily="34" charset="0"/>
                <a:ea typeface="Work Sans SemiBold" pitchFamily="34" charset="-122"/>
                <a:cs typeface="Work Sans SemiBold" pitchFamily="34" charset="-120"/>
              </a:rPr>
              <a:t>Foundation &amp; Infrastructure </a:t>
            </a:r>
            <a:r>
              <a:rPr lang="en-US" sz="700" b="1" dirty="0">
                <a:solidFill>
                  <a:srgbClr val="F0F4F8"/>
                </a:solidFill>
                <a:latin typeface="Work Sans Bold" pitchFamily="34" charset="0"/>
                <a:ea typeface="Work Sans Bold" pitchFamily="34" charset="-122"/>
                <a:cs typeface="Work Sans Bold" pitchFamily="34" charset="-120"/>
              </a:rPr>
              <a:t>COMPLETED</a:t>
            </a:r>
            <a:endParaRPr lang="en-US" sz="1100" dirty="0"/>
          </a:p>
        </p:txBody>
      </p:sp>
      <p:sp>
        <p:nvSpPr>
          <p:cNvPr id="7" name="Text 3"/>
          <p:cNvSpPr/>
          <p:nvPr/>
        </p:nvSpPr>
        <p:spPr>
          <a:xfrm>
            <a:off x="1914525" y="1869765"/>
            <a:ext cx="2251425"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Literature Review &amp; Environment Setup</a:t>
            </a:r>
            <a:endParaRPr lang="en-US" sz="950" dirty="0"/>
          </a:p>
        </p:txBody>
      </p:sp>
      <p:sp>
        <p:nvSpPr>
          <p:cNvPr id="8" name="Text 4"/>
          <p:cNvSpPr/>
          <p:nvPr/>
        </p:nvSpPr>
        <p:spPr>
          <a:xfrm>
            <a:off x="1914525" y="2075483"/>
            <a:ext cx="2180099"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Data Indexing &amp; Vector Store Creation</a:t>
            </a:r>
            <a:endParaRPr lang="en-US" sz="950" dirty="0"/>
          </a:p>
        </p:txBody>
      </p:sp>
      <p:sp>
        <p:nvSpPr>
          <p:cNvPr id="9" name="Text 5"/>
          <p:cNvSpPr/>
          <p:nvPr/>
        </p:nvSpPr>
        <p:spPr>
          <a:xfrm>
            <a:off x="428625" y="2609813"/>
            <a:ext cx="1285875" cy="146447"/>
          </a:xfrm>
          <a:prstGeom prst="rect">
            <a:avLst/>
          </a:prstGeom>
          <a:noFill/>
          <a:ln/>
        </p:spPr>
        <p:txBody>
          <a:bodyPr wrap="none" lIns="0" tIns="0" rIns="0" bIns="0" rtlCol="0" anchor="t">
            <a:spAutoFit/>
          </a:bodyPr>
          <a:lstStyle/>
          <a:p>
            <a:pPr algn="l" indent="0" marL="0">
              <a:buNone/>
            </a:pPr>
            <a:r>
              <a:rPr lang="en-US" sz="900" b="1" spc="1" kern="0" dirty="0">
                <a:solidFill>
                  <a:srgbClr val="D96C06"/>
                </a:solidFill>
                <a:latin typeface="Work Sans Bold" pitchFamily="34" charset="0"/>
                <a:ea typeface="Work Sans Bold" pitchFamily="34" charset="-122"/>
                <a:cs typeface="Work Sans Bold" pitchFamily="34" charset="-120"/>
              </a:rPr>
              <a:t>Q3 2026</a:t>
            </a:r>
            <a:endParaRPr lang="en-US" sz="900" dirty="0"/>
          </a:p>
        </p:txBody>
      </p:sp>
      <p:sp>
        <p:nvSpPr>
          <p:cNvPr id="10" name="Text 6"/>
          <p:cNvSpPr/>
          <p:nvPr/>
        </p:nvSpPr>
        <p:spPr>
          <a:xfrm>
            <a:off x="1714500" y="2609813"/>
            <a:ext cx="5857875" cy="182166"/>
          </a:xfrm>
          <a:prstGeom prst="rect">
            <a:avLst/>
          </a:prstGeom>
          <a:noFill/>
          <a:ln/>
        </p:spPr>
        <p:txBody>
          <a:bodyPr wrap="square" lIns="0" tIns="0" rIns="0" bIns="0" rtlCol="0" anchor="t">
            <a:spAutoFit/>
          </a:bodyPr>
          <a:lstStyle/>
          <a:p>
            <a:pPr algn="l" indent="0" marL="0">
              <a:buNone/>
            </a:pPr>
            <a:r>
              <a:rPr lang="en-US" sz="1100" dirty="0">
                <a:solidFill>
                  <a:srgbClr val="0F2537"/>
                </a:solidFill>
                <a:latin typeface="Work Sans SemiBold" pitchFamily="34" charset="0"/>
                <a:ea typeface="Work Sans SemiBold" pitchFamily="34" charset="-122"/>
                <a:cs typeface="Work Sans SemiBold" pitchFamily="34" charset="-120"/>
              </a:rPr>
              <a:t>Model Development </a:t>
            </a:r>
            <a:r>
              <a:rPr lang="en-US" sz="700" b="1" dirty="0">
                <a:solidFill>
                  <a:srgbClr val="0F2537"/>
                </a:solidFill>
                <a:latin typeface="Work Sans Bold" pitchFamily="34" charset="0"/>
                <a:ea typeface="Work Sans Bold" pitchFamily="34" charset="-122"/>
                <a:cs typeface="Work Sans Bold" pitchFamily="34" charset="-120"/>
              </a:rPr>
              <a:t>ACTIVE FOCUS</a:t>
            </a:r>
            <a:endParaRPr lang="en-US" sz="1100" dirty="0"/>
          </a:p>
        </p:txBody>
      </p:sp>
      <p:sp>
        <p:nvSpPr>
          <p:cNvPr id="11" name="Text 7"/>
          <p:cNvSpPr/>
          <p:nvPr/>
        </p:nvSpPr>
        <p:spPr>
          <a:xfrm>
            <a:off x="1914525" y="2849128"/>
            <a:ext cx="3187647"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Model Training: Fine-tuning LLMs with RAG using LoRA</a:t>
            </a:r>
            <a:endParaRPr lang="en-US" sz="950" dirty="0"/>
          </a:p>
        </p:txBody>
      </p:sp>
      <p:sp>
        <p:nvSpPr>
          <p:cNvPr id="12" name="Text 8"/>
          <p:cNvSpPr/>
          <p:nvPr/>
        </p:nvSpPr>
        <p:spPr>
          <a:xfrm>
            <a:off x="1914525" y="3054846"/>
            <a:ext cx="2165896"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Integration of Adaptive Retrieval Logic</a:t>
            </a:r>
            <a:endParaRPr lang="en-US" sz="950" dirty="0"/>
          </a:p>
        </p:txBody>
      </p:sp>
      <p:sp>
        <p:nvSpPr>
          <p:cNvPr id="13" name="Text 9"/>
          <p:cNvSpPr/>
          <p:nvPr/>
        </p:nvSpPr>
        <p:spPr>
          <a:xfrm>
            <a:off x="428625" y="3589176"/>
            <a:ext cx="1285875" cy="146447"/>
          </a:xfrm>
          <a:prstGeom prst="rect">
            <a:avLst/>
          </a:prstGeom>
          <a:noFill/>
          <a:ln/>
        </p:spPr>
        <p:txBody>
          <a:bodyPr wrap="none" lIns="0" tIns="0" rIns="0" bIns="0" rtlCol="0" anchor="t">
            <a:spAutoFit/>
          </a:bodyPr>
          <a:lstStyle/>
          <a:p>
            <a:pPr algn="l" indent="0" marL="0">
              <a:buNone/>
            </a:pPr>
            <a:r>
              <a:rPr lang="en-US" sz="900" b="1" spc="1" kern="0" dirty="0">
                <a:solidFill>
                  <a:srgbClr val="D96C06"/>
                </a:solidFill>
                <a:latin typeface="Work Sans Bold" pitchFamily="34" charset="0"/>
                <a:ea typeface="Work Sans Bold" pitchFamily="34" charset="-122"/>
                <a:cs typeface="Work Sans Bold" pitchFamily="34" charset="-120"/>
              </a:rPr>
              <a:t>Q4 2026+</a:t>
            </a:r>
            <a:endParaRPr lang="en-US" sz="900" dirty="0"/>
          </a:p>
        </p:txBody>
      </p:sp>
      <p:sp>
        <p:nvSpPr>
          <p:cNvPr id="14" name="Text 10"/>
          <p:cNvSpPr/>
          <p:nvPr/>
        </p:nvSpPr>
        <p:spPr>
          <a:xfrm>
            <a:off x="1714500" y="3589176"/>
            <a:ext cx="5857875" cy="182166"/>
          </a:xfrm>
          <a:prstGeom prst="rect">
            <a:avLst/>
          </a:prstGeom>
          <a:noFill/>
          <a:ln/>
        </p:spPr>
        <p:txBody>
          <a:bodyPr wrap="square" lIns="0" tIns="0" rIns="0" bIns="0" rtlCol="0" anchor="t">
            <a:spAutoFit/>
          </a:bodyPr>
          <a:lstStyle/>
          <a:p>
            <a:pPr algn="l" indent="0" marL="0">
              <a:buNone/>
            </a:pPr>
            <a:r>
              <a:rPr lang="en-US" sz="1100" dirty="0">
                <a:solidFill>
                  <a:srgbClr val="0F2537"/>
                </a:solidFill>
                <a:latin typeface="Work Sans SemiBold" pitchFamily="34" charset="0"/>
                <a:ea typeface="Work Sans SemiBold" pitchFamily="34" charset="-122"/>
                <a:cs typeface="Work Sans SemiBold" pitchFamily="34" charset="-120"/>
              </a:rPr>
              <a:t>Validation &amp; Delivery</a:t>
            </a:r>
            <a:endParaRPr lang="en-US" sz="1100" dirty="0"/>
          </a:p>
        </p:txBody>
      </p:sp>
      <p:sp>
        <p:nvSpPr>
          <p:cNvPr id="15" name="Text 11"/>
          <p:cNvSpPr/>
          <p:nvPr/>
        </p:nvSpPr>
        <p:spPr>
          <a:xfrm>
            <a:off x="1914525" y="3828492"/>
            <a:ext cx="2635179"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Evaluation, Testing, and Comparative Analysis</a:t>
            </a:r>
            <a:endParaRPr lang="en-US" sz="950" dirty="0"/>
          </a:p>
        </p:txBody>
      </p:sp>
      <p:sp>
        <p:nvSpPr>
          <p:cNvPr id="16" name="Text 12"/>
          <p:cNvSpPr/>
          <p:nvPr/>
        </p:nvSpPr>
        <p:spPr>
          <a:xfrm>
            <a:off x="1914525" y="4034210"/>
            <a:ext cx="2012947"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Thesis Writing &amp; Paper Submission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785506"/>
            <a:ext cx="8286750" cy="262533"/>
          </a:xfrm>
          <a:prstGeom prst="rect">
            <a:avLst/>
          </a:prstGeom>
          <a:noFill/>
          <a:ln/>
        </p:spPr>
        <p:txBody>
          <a:bodyPr wrap="square" lIns="0" tIns="0" rIns="0" bIns="0" rtlCol="0" anchor="t">
            <a:spAutoFit/>
          </a:bodyPr>
          <a:lstStyle/>
          <a:p>
            <a:pPr algn="l" indent="0" marL="0">
              <a:buNone/>
            </a:pPr>
            <a:r>
              <a:rPr lang="en-US" sz="1600" b="1" dirty="0">
                <a:solidFill>
                  <a:srgbClr val="0F2537"/>
                </a:solidFill>
                <a:latin typeface="Playfair Display Bold" pitchFamily="34" charset="0"/>
                <a:ea typeface="Playfair Display Bold" pitchFamily="34" charset="-122"/>
                <a:cs typeface="Playfair Display Bold" pitchFamily="34" charset="-120"/>
              </a:rPr>
              <a:t>Conclusion &amp; Next Steps</a:t>
            </a:r>
            <a:endParaRPr lang="en-US" sz="1600" dirty="0"/>
          </a:p>
        </p:txBody>
      </p:sp>
      <p:sp>
        <p:nvSpPr>
          <p:cNvPr id="5" name="Text 1"/>
          <p:cNvSpPr/>
          <p:nvPr/>
        </p:nvSpPr>
        <p:spPr>
          <a:xfrm>
            <a:off x="428625" y="1333788"/>
            <a:ext cx="6429375" cy="754363"/>
          </a:xfrm>
          <a:prstGeom prst="rect">
            <a:avLst/>
          </a:prstGeom>
          <a:noFill/>
          <a:ln/>
        </p:spPr>
        <p:txBody>
          <a:bodyPr wrap="square" lIns="0" tIns="0" rIns="0" bIns="0" rtlCol="0" anchor="t">
            <a:spAutoFit/>
          </a:bodyPr>
          <a:lstStyle/>
          <a:p>
            <a:pPr algn="l" indent="0" marL="0">
              <a:lnSpc>
                <a:spcPct val="128000"/>
              </a:lnSpc>
              <a:buNone/>
            </a:pPr>
            <a:r>
              <a:rPr lang="en-US" sz="1150" i="1" dirty="0">
                <a:solidFill>
                  <a:srgbClr val="2C3E50"/>
                </a:solidFill>
                <a:latin typeface="Work Sans" pitchFamily="34" charset="0"/>
                <a:ea typeface="Work Sans" pitchFamily="34" charset="-122"/>
                <a:cs typeface="Work Sans" pitchFamily="34" charset="-120"/>
              </a:rPr>
              <a:t>The framework is currently on track to deliver a scalable solution for accurate, real-time dialogue intelligence, significantly mitigating the risk of AI hallucinations in multi-turn conversations.</a:t>
            </a:r>
            <a:endParaRPr lang="en-US" sz="1150" dirty="0"/>
          </a:p>
        </p:txBody>
      </p:sp>
      <p:sp>
        <p:nvSpPr>
          <p:cNvPr id="6" name="Text 2"/>
          <p:cNvSpPr/>
          <p:nvPr/>
        </p:nvSpPr>
        <p:spPr>
          <a:xfrm>
            <a:off x="428625" y="2666795"/>
            <a:ext cx="3643313" cy="198239"/>
          </a:xfrm>
          <a:prstGeom prst="rect">
            <a:avLst/>
          </a:prstGeom>
          <a:noFill/>
          <a:ln/>
        </p:spPr>
        <p:txBody>
          <a:bodyPr wrap="square" lIns="0" tIns="0" rIns="0" bIns="0" rtlCol="0" anchor="t">
            <a:spAutoFit/>
          </a:bodyPr>
          <a:lstStyle/>
          <a:p>
            <a:pPr algn="l" indent="0" marL="0">
              <a:buNone/>
            </a:pPr>
            <a:r>
              <a:rPr lang="en-US" sz="1200" b="1" dirty="0">
                <a:solidFill>
                  <a:srgbClr val="0F2537"/>
                </a:solidFill>
                <a:latin typeface="Playfair Display Bold" pitchFamily="34" charset="0"/>
                <a:ea typeface="Playfair Display Bold" pitchFamily="34" charset="-122"/>
                <a:cs typeface="Playfair Display Bold" pitchFamily="34" charset="-120"/>
              </a:rPr>
              <a:t>Immediate Next Steps</a:t>
            </a:r>
            <a:endParaRPr lang="en-US" sz="1200" dirty="0"/>
          </a:p>
        </p:txBody>
      </p:sp>
      <p:sp>
        <p:nvSpPr>
          <p:cNvPr id="7" name="Text 3"/>
          <p:cNvSpPr/>
          <p:nvPr/>
        </p:nvSpPr>
        <p:spPr>
          <a:xfrm>
            <a:off x="642938" y="3007909"/>
            <a:ext cx="3429000"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Initiate domain-specific fine-tuning using Low-Rank Adaptation (LoRA).</a:t>
            </a:r>
            <a:endParaRPr lang="en-US" sz="950" dirty="0"/>
          </a:p>
        </p:txBody>
      </p:sp>
      <p:sp>
        <p:nvSpPr>
          <p:cNvPr id="8" name="Text 4"/>
          <p:cNvSpPr/>
          <p:nvPr/>
        </p:nvSpPr>
        <p:spPr>
          <a:xfrm>
            <a:off x="642938" y="3526501"/>
            <a:ext cx="3429000"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Begin preliminary performance testing on the DialogSum dataset.</a:t>
            </a:r>
            <a:endParaRPr lang="en-US" sz="950" dirty="0"/>
          </a:p>
        </p:txBody>
      </p:sp>
      <p:sp>
        <p:nvSpPr>
          <p:cNvPr id="9" name="Text 5"/>
          <p:cNvSpPr/>
          <p:nvPr/>
        </p:nvSpPr>
        <p:spPr>
          <a:xfrm>
            <a:off x="642938" y="4045093"/>
            <a:ext cx="3257885"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Refine the "Filtering Layer" for enhanced noise reduction.</a:t>
            </a:r>
            <a:endParaRPr lang="en-US" sz="950" dirty="0"/>
          </a:p>
        </p:txBody>
      </p:sp>
      <p:sp>
        <p:nvSpPr>
          <p:cNvPr id="10" name="Text 6"/>
          <p:cNvSpPr/>
          <p:nvPr/>
        </p:nvSpPr>
        <p:spPr>
          <a:xfrm>
            <a:off x="4643438" y="2666795"/>
            <a:ext cx="3643313" cy="198239"/>
          </a:xfrm>
          <a:prstGeom prst="rect">
            <a:avLst/>
          </a:prstGeom>
          <a:noFill/>
          <a:ln/>
        </p:spPr>
        <p:txBody>
          <a:bodyPr wrap="square" lIns="0" tIns="0" rIns="0" bIns="0" rtlCol="0" anchor="t">
            <a:spAutoFit/>
          </a:bodyPr>
          <a:lstStyle/>
          <a:p>
            <a:pPr algn="l" indent="0" marL="0">
              <a:buNone/>
            </a:pPr>
            <a:r>
              <a:rPr lang="en-US" sz="1200" b="1" dirty="0">
                <a:solidFill>
                  <a:srgbClr val="0F2537"/>
                </a:solidFill>
                <a:latin typeface="Playfair Display Bold" pitchFamily="34" charset="0"/>
                <a:ea typeface="Playfair Display Bold" pitchFamily="34" charset="-122"/>
                <a:cs typeface="Playfair Display Bold" pitchFamily="34" charset="-120"/>
              </a:rPr>
              <a:t>Future Scope</a:t>
            </a:r>
            <a:endParaRPr lang="en-US" sz="1200" dirty="0"/>
          </a:p>
        </p:txBody>
      </p:sp>
      <p:sp>
        <p:nvSpPr>
          <p:cNvPr id="11" name="Text 7"/>
          <p:cNvSpPr/>
          <p:nvPr/>
        </p:nvSpPr>
        <p:spPr>
          <a:xfrm>
            <a:off x="4857750" y="3007909"/>
            <a:ext cx="3429000"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Extending the framework to Multimodal Retrieval for video call summarization.</a:t>
            </a:r>
            <a:endParaRPr lang="en-US" sz="950" dirty="0"/>
          </a:p>
        </p:txBody>
      </p:sp>
      <p:sp>
        <p:nvSpPr>
          <p:cNvPr id="12" name="Text 8"/>
          <p:cNvSpPr/>
          <p:nvPr/>
        </p:nvSpPr>
        <p:spPr>
          <a:xfrm>
            <a:off x="4857750" y="3526501"/>
            <a:ext cx="3429000"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Optimizing model performance for Edge Devices using Quantization (GGUF/AWQ).</a:t>
            </a:r>
            <a:endParaRPr lang="en-US" sz="950" dirty="0"/>
          </a:p>
        </p:txBody>
      </p:sp>
      <p:sp>
        <p:nvSpPr>
          <p:cNvPr id="13" name="Text 9"/>
          <p:cNvSpPr/>
          <p:nvPr/>
        </p:nvSpPr>
        <p:spPr>
          <a:xfrm>
            <a:off x="4857750" y="4045093"/>
            <a:ext cx="2830181"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2C3E50"/>
                </a:solidFill>
                <a:latin typeface="Work Sans" pitchFamily="34" charset="0"/>
                <a:ea typeface="Work Sans" pitchFamily="34" charset="-122"/>
                <a:cs typeface="Work Sans" pitchFamily="34" charset="-120"/>
              </a:rPr>
              <a:t>Integration with real-time enterprise data streams.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1000125" y="1627882"/>
            <a:ext cx="7143750" cy="525066"/>
          </a:xfrm>
          <a:prstGeom prst="rect">
            <a:avLst/>
          </a:prstGeom>
          <a:noFill/>
          <a:ln/>
        </p:spPr>
        <p:txBody>
          <a:bodyPr wrap="square" lIns="0" tIns="0" rIns="0" bIns="0" rtlCol="0" anchor="t">
            <a:spAutoFit/>
          </a:bodyPr>
          <a:lstStyle/>
          <a:p>
            <a:pPr algn="l" indent="0" marL="0">
              <a:buNone/>
            </a:pPr>
            <a:r>
              <a:rPr lang="en-US" sz="3300" b="1" dirty="0">
                <a:solidFill>
                  <a:srgbClr val="0F2537"/>
                </a:solidFill>
                <a:latin typeface="Playfair Display Bold" pitchFamily="34" charset="0"/>
                <a:ea typeface="Playfair Display Bold" pitchFamily="34" charset="-122"/>
                <a:cs typeface="Playfair Display Bold" pitchFamily="34" charset="-120"/>
              </a:rPr>
              <a:t>Q&amp;A</a:t>
            </a:r>
            <a:endParaRPr lang="en-US" sz="3300" dirty="0"/>
          </a:p>
        </p:txBody>
      </p:sp>
      <p:sp>
        <p:nvSpPr>
          <p:cNvPr id="5" name="Text 1"/>
          <p:cNvSpPr/>
          <p:nvPr/>
        </p:nvSpPr>
        <p:spPr>
          <a:xfrm>
            <a:off x="5729846" y="2660154"/>
            <a:ext cx="2414029" cy="262533"/>
          </a:xfrm>
          <a:prstGeom prst="rect">
            <a:avLst/>
          </a:prstGeom>
          <a:noFill/>
          <a:ln/>
        </p:spPr>
        <p:txBody>
          <a:bodyPr wrap="square" lIns="0" tIns="0" rIns="0" bIns="0" rtlCol="0" anchor="t">
            <a:spAutoFit/>
          </a:bodyPr>
          <a:lstStyle/>
          <a:p>
            <a:pPr algn="l" indent="0" marL="0">
              <a:buNone/>
            </a:pPr>
            <a:r>
              <a:rPr lang="en-US" sz="1700" dirty="0">
                <a:solidFill>
                  <a:srgbClr val="2C3E50"/>
                </a:solidFill>
                <a:latin typeface="Work Sans" pitchFamily="34" charset="0"/>
                <a:ea typeface="Work Sans" pitchFamily="34" charset="-122"/>
                <a:cs typeface="Work Sans" pitchFamily="34" charset="-120"/>
              </a:rPr>
              <a:t>Questions &amp; Discussion</a:t>
            </a:r>
            <a:endParaRPr lang="en-US" sz="1700" dirty="0"/>
          </a:p>
        </p:txBody>
      </p:sp>
      <p:sp>
        <p:nvSpPr>
          <p:cNvPr id="6" name="Text 2"/>
          <p:cNvSpPr/>
          <p:nvPr/>
        </p:nvSpPr>
        <p:spPr>
          <a:xfrm>
            <a:off x="5809041" y="3351312"/>
            <a:ext cx="2334834" cy="164306"/>
          </a:xfrm>
          <a:prstGeom prst="rect">
            <a:avLst/>
          </a:prstGeom>
          <a:noFill/>
          <a:ln/>
        </p:spPr>
        <p:txBody>
          <a:bodyPr wrap="square" lIns="0" tIns="0" rIns="0" bIns="0" rtlCol="0" anchor="t">
            <a:spAutoFit/>
          </a:bodyPr>
          <a:lstStyle/>
          <a:p>
            <a:pPr algn="l" indent="0" marL="0">
              <a:buNone/>
            </a:pPr>
            <a:r>
              <a:rPr lang="en-US" sz="1050" dirty="0">
                <a:solidFill>
                  <a:srgbClr val="D96C06"/>
                </a:solidFill>
                <a:latin typeface="Work Sans" pitchFamily="34" charset="0"/>
                <a:ea typeface="Work Sans" pitchFamily="34" charset="-122"/>
                <a:cs typeface="Work Sans" pitchFamily="34" charset="-120"/>
              </a:rPr>
              <a:t>Thank you for your time and support.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2026-06-28T15:34:35Z</dcterms:created>
  <dcterms:modified xsi:type="dcterms:W3CDTF">2026-06-28T15:34:35Z</dcterms:modified>
</cp:coreProperties>
</file>